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58" r:id="rId5"/>
    <p:sldId id="260" r:id="rId6"/>
    <p:sldId id="262" r:id="rId7"/>
    <p:sldId id="261" r:id="rId8"/>
    <p:sldId id="269" r:id="rId9"/>
    <p:sldId id="270" r:id="rId10"/>
    <p:sldId id="271" r:id="rId11"/>
    <p:sldId id="272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1. 발전설비" id="{C9788198-83EF-4941-9118-0E3FA2955B23}">
          <p14:sldIdLst>
            <p14:sldId id="256"/>
          </p14:sldIdLst>
        </p14:section>
        <p14:section name="2.발전량" id="{07E38AEF-69D7-4967-B95F-E8FA4FE744DE}">
          <p14:sldIdLst>
            <p14:sldId id="257"/>
            <p14:sldId id="259"/>
          </p14:sldIdLst>
        </p14:section>
        <p14:section name="3.전력수요" id="{CBC22EFC-A664-41BE-BC45-D78C70D12D38}">
          <p14:sldIdLst>
            <p14:sldId id="258"/>
            <p14:sldId id="260"/>
          </p14:sldIdLst>
        </p14:section>
        <p14:section name="4.친환경에너지 이용률" id="{58613D7B-7E88-4A76-9EE7-40B5D84C14E0}">
          <p14:sldIdLst>
            <p14:sldId id="262"/>
            <p14:sldId id="261"/>
          </p14:sldIdLst>
        </p14:section>
        <p14:section name="5. 이산화탄소배출량" id="{EB4C9A3B-8EB8-4D77-A185-2580703563BD}">
          <p14:sldIdLst>
            <p14:sldId id="269"/>
            <p14:sldId id="270"/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57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172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F91D5-A054-42E2-874D-939B01A751E1}" type="datetimeFigureOut">
              <a:rPr lang="ko-KR" altLang="en-US" smtClean="0"/>
              <a:t>2026-07-13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507CA-D843-4D9A-9AB6-04A97CB05A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40865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F91D5-A054-42E2-874D-939B01A751E1}" type="datetimeFigureOut">
              <a:rPr lang="ko-KR" altLang="en-US" smtClean="0"/>
              <a:t>2026-07-13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507CA-D843-4D9A-9AB6-04A97CB05A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46406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F91D5-A054-42E2-874D-939B01A751E1}" type="datetimeFigureOut">
              <a:rPr lang="ko-KR" altLang="en-US" smtClean="0"/>
              <a:t>2026-07-13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507CA-D843-4D9A-9AB6-04A97CB05A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81636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F91D5-A054-42E2-874D-939B01A751E1}" type="datetimeFigureOut">
              <a:rPr lang="ko-KR" altLang="en-US" smtClean="0"/>
              <a:t>2026-07-13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507CA-D843-4D9A-9AB6-04A97CB05A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49934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F91D5-A054-42E2-874D-939B01A751E1}" type="datetimeFigureOut">
              <a:rPr lang="ko-KR" altLang="en-US" smtClean="0"/>
              <a:t>2026-07-13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507CA-D843-4D9A-9AB6-04A97CB05A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5416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F91D5-A054-42E2-874D-939B01A751E1}" type="datetimeFigureOut">
              <a:rPr lang="ko-KR" altLang="en-US" smtClean="0"/>
              <a:t>2026-07-13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507CA-D843-4D9A-9AB6-04A97CB05A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2995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F91D5-A054-42E2-874D-939B01A751E1}" type="datetimeFigureOut">
              <a:rPr lang="ko-KR" altLang="en-US" smtClean="0"/>
              <a:t>2026-07-13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507CA-D843-4D9A-9AB6-04A97CB05A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437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F91D5-A054-42E2-874D-939B01A751E1}" type="datetimeFigureOut">
              <a:rPr lang="ko-KR" altLang="en-US" smtClean="0"/>
              <a:t>2026-07-13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507CA-D843-4D9A-9AB6-04A97CB05A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10081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F91D5-A054-42E2-874D-939B01A751E1}" type="datetimeFigureOut">
              <a:rPr lang="ko-KR" altLang="en-US" smtClean="0"/>
              <a:t>2026-07-13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507CA-D843-4D9A-9AB6-04A97CB05A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8048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F91D5-A054-42E2-874D-939B01A751E1}" type="datetimeFigureOut">
              <a:rPr lang="ko-KR" altLang="en-US" smtClean="0"/>
              <a:t>2026-07-13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507CA-D843-4D9A-9AB6-04A97CB05A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82995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F91D5-A054-42E2-874D-939B01A751E1}" type="datetimeFigureOut">
              <a:rPr lang="ko-KR" altLang="en-US" smtClean="0"/>
              <a:t>2026-07-13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507CA-D843-4D9A-9AB6-04A97CB05A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06034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0F91D5-A054-42E2-874D-939B01A751E1}" type="datetimeFigureOut">
              <a:rPr lang="ko-KR" altLang="en-US" smtClean="0"/>
              <a:t>2026-07-13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2507CA-D843-4D9A-9AB6-04A97CB05A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0854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2C623425-8ABB-4197-955C-907C210676D2}"/>
              </a:ext>
            </a:extLst>
          </p:cNvPr>
          <p:cNvSpPr/>
          <p:nvPr/>
        </p:nvSpPr>
        <p:spPr>
          <a:xfrm>
            <a:off x="1153757" y="1067024"/>
            <a:ext cx="1355464" cy="31466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0" dirty="0"/>
              <a:t>1. </a:t>
            </a:r>
            <a:r>
              <a:rPr lang="ko-KR" altLang="en-US" sz="1350" dirty="0"/>
              <a:t>발전설비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5D2C395D-4BCD-4C21-AD7C-2F91A0AD46DB}"/>
              </a:ext>
            </a:extLst>
          </p:cNvPr>
          <p:cNvSpPr/>
          <p:nvPr/>
        </p:nvSpPr>
        <p:spPr>
          <a:xfrm>
            <a:off x="2678653" y="1067024"/>
            <a:ext cx="1355464" cy="31466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0" dirty="0"/>
              <a:t>2.</a:t>
            </a:r>
            <a:r>
              <a:rPr lang="ko-KR" altLang="en-US" sz="1350" dirty="0"/>
              <a:t>발전량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6C0B6196-2A73-45B7-8FB8-DDF21B496B4A}"/>
              </a:ext>
            </a:extLst>
          </p:cNvPr>
          <p:cNvSpPr/>
          <p:nvPr/>
        </p:nvSpPr>
        <p:spPr>
          <a:xfrm>
            <a:off x="4203549" y="1067024"/>
            <a:ext cx="1355464" cy="31466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0" dirty="0"/>
              <a:t>3. </a:t>
            </a:r>
            <a:r>
              <a:rPr lang="ko-KR" altLang="en-US" sz="1350" dirty="0"/>
              <a:t>전력수요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94B33C20-02D8-4457-BA5C-98C8398A8B86}"/>
              </a:ext>
            </a:extLst>
          </p:cNvPr>
          <p:cNvSpPr/>
          <p:nvPr/>
        </p:nvSpPr>
        <p:spPr>
          <a:xfrm>
            <a:off x="7253342" y="1067024"/>
            <a:ext cx="1355464" cy="31466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5. </a:t>
            </a:r>
            <a:r>
              <a:rPr lang="ko-KR" altLang="en-US" sz="900" dirty="0"/>
              <a:t>이산화탄소 배출량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7BCDE08-9FA1-4D06-B558-7DEAB345DB23}"/>
              </a:ext>
            </a:extLst>
          </p:cNvPr>
          <p:cNvSpPr/>
          <p:nvPr/>
        </p:nvSpPr>
        <p:spPr>
          <a:xfrm>
            <a:off x="524435" y="1656006"/>
            <a:ext cx="8407101" cy="395343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F96DC647-5080-46A4-9AEB-BAF2358B173F}"/>
              </a:ext>
            </a:extLst>
          </p:cNvPr>
          <p:cNvCxnSpPr/>
          <p:nvPr/>
        </p:nvCxnSpPr>
        <p:spPr>
          <a:xfrm>
            <a:off x="524435" y="2309532"/>
            <a:ext cx="840710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그림 12">
            <a:extLst>
              <a:ext uri="{FF2B5EF4-FFF2-40B4-BE49-F238E27FC236}">
                <a16:creationId xmlns:a16="http://schemas.microsoft.com/office/drawing/2014/main" id="{028C48C7-F09A-4FA7-A8EB-85DB09C0A1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7838" y="2963059"/>
            <a:ext cx="3966886" cy="2578476"/>
          </a:xfrm>
          <a:prstGeom prst="rect">
            <a:avLst/>
          </a:prstGeom>
        </p:spPr>
      </p:pic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33D2F57F-1164-431F-ADA6-50C23E8BADBD}"/>
              </a:ext>
            </a:extLst>
          </p:cNvPr>
          <p:cNvSpPr/>
          <p:nvPr/>
        </p:nvSpPr>
        <p:spPr>
          <a:xfrm>
            <a:off x="680516" y="2583854"/>
            <a:ext cx="473241" cy="15248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2017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07325575-25A6-48AC-85FC-261864E51AAE}"/>
              </a:ext>
            </a:extLst>
          </p:cNvPr>
          <p:cNvSpPr/>
          <p:nvPr/>
        </p:nvSpPr>
        <p:spPr>
          <a:xfrm>
            <a:off x="1217926" y="2583854"/>
            <a:ext cx="473241" cy="15248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2018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CAC0EB98-02E2-4556-8E67-9CC134630292}"/>
              </a:ext>
            </a:extLst>
          </p:cNvPr>
          <p:cNvSpPr/>
          <p:nvPr/>
        </p:nvSpPr>
        <p:spPr>
          <a:xfrm>
            <a:off x="1755336" y="2583854"/>
            <a:ext cx="473241" cy="15248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2019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70967A8C-E97B-4ED7-B0B7-BBE030FB03F9}"/>
              </a:ext>
            </a:extLst>
          </p:cNvPr>
          <p:cNvSpPr/>
          <p:nvPr/>
        </p:nvSpPr>
        <p:spPr>
          <a:xfrm>
            <a:off x="2292746" y="2583854"/>
            <a:ext cx="473241" cy="15248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2020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D68EB983-249C-4E99-8D9E-F2674337EC77}"/>
              </a:ext>
            </a:extLst>
          </p:cNvPr>
          <p:cNvSpPr/>
          <p:nvPr/>
        </p:nvSpPr>
        <p:spPr>
          <a:xfrm>
            <a:off x="2830156" y="2583854"/>
            <a:ext cx="473241" cy="15248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2021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EE14B11F-349F-40D1-BC4D-5D14FA17D653}"/>
              </a:ext>
            </a:extLst>
          </p:cNvPr>
          <p:cNvSpPr/>
          <p:nvPr/>
        </p:nvSpPr>
        <p:spPr>
          <a:xfrm>
            <a:off x="3367566" y="2583854"/>
            <a:ext cx="473241" cy="15248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2022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4ACFBA6A-3BA8-419B-9E81-C8F8581EE21C}"/>
              </a:ext>
            </a:extLst>
          </p:cNvPr>
          <p:cNvSpPr/>
          <p:nvPr/>
        </p:nvSpPr>
        <p:spPr>
          <a:xfrm>
            <a:off x="3904976" y="2583854"/>
            <a:ext cx="473241" cy="15248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2023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ED076E9-E3E0-4F8A-A1AD-645B3CDFE5E6}"/>
              </a:ext>
            </a:extLst>
          </p:cNvPr>
          <p:cNvSpPr txBox="1"/>
          <p:nvPr/>
        </p:nvSpPr>
        <p:spPr>
          <a:xfrm>
            <a:off x="624368" y="2326648"/>
            <a:ext cx="89529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dirty="0"/>
              <a:t>기준 연도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AD6B05C5-CC2D-41BF-9061-FB7DA41C59C8}"/>
              </a:ext>
            </a:extLst>
          </p:cNvPr>
          <p:cNvSpPr/>
          <p:nvPr/>
        </p:nvSpPr>
        <p:spPr>
          <a:xfrm>
            <a:off x="4691042" y="2583854"/>
            <a:ext cx="473241" cy="15248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Coal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23F9A9C3-2CEC-4C90-8F3C-C8B61EFB9561}"/>
              </a:ext>
            </a:extLst>
          </p:cNvPr>
          <p:cNvSpPr/>
          <p:nvPr/>
        </p:nvSpPr>
        <p:spPr>
          <a:xfrm>
            <a:off x="5228452" y="2583854"/>
            <a:ext cx="473241" cy="15248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LNG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7022B22E-9067-4718-A1FC-F448EDBAED7E}"/>
              </a:ext>
            </a:extLst>
          </p:cNvPr>
          <p:cNvSpPr/>
          <p:nvPr/>
        </p:nvSpPr>
        <p:spPr>
          <a:xfrm>
            <a:off x="5765862" y="2583854"/>
            <a:ext cx="473241" cy="15248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Nuclear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2EABA22A-52E3-4359-A2F0-C3B4ED67F7B8}"/>
              </a:ext>
            </a:extLst>
          </p:cNvPr>
          <p:cNvSpPr/>
          <p:nvPr/>
        </p:nvSpPr>
        <p:spPr>
          <a:xfrm>
            <a:off x="6303272" y="2583854"/>
            <a:ext cx="473241" cy="15248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Bio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A51FAB5-03B0-4BEA-B0E8-9C7BF3FEA83D}"/>
              </a:ext>
            </a:extLst>
          </p:cNvPr>
          <p:cNvSpPr txBox="1"/>
          <p:nvPr/>
        </p:nvSpPr>
        <p:spPr>
          <a:xfrm>
            <a:off x="4634894" y="2326648"/>
            <a:ext cx="89529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dirty="0"/>
              <a:t>기술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3AF01C3-D450-4E73-A9B3-47CCC7B802AE}"/>
              </a:ext>
            </a:extLst>
          </p:cNvPr>
          <p:cNvSpPr txBox="1"/>
          <p:nvPr/>
        </p:nvSpPr>
        <p:spPr>
          <a:xfrm>
            <a:off x="3121357" y="1671220"/>
            <a:ext cx="351984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>
              <a:buAutoNum type="arabicPeriod"/>
            </a:pPr>
            <a:r>
              <a:rPr lang="ko-KR" altLang="en-US" dirty="0"/>
              <a:t>발전설비</a:t>
            </a:r>
            <a:endParaRPr lang="en-US" altLang="ko-KR" dirty="0"/>
          </a:p>
          <a:p>
            <a:pPr algn="ctr"/>
            <a:r>
              <a:rPr lang="ko-KR" altLang="en-US" sz="1200" dirty="0" err="1"/>
              <a:t>권역별</a:t>
            </a:r>
            <a:r>
              <a:rPr lang="ko-KR" altLang="en-US" sz="1200" dirty="0"/>
              <a:t> 발전설비 </a:t>
            </a:r>
            <a:r>
              <a:rPr lang="ko-KR" altLang="en-US" sz="1200" dirty="0" err="1"/>
              <a:t>기술별</a:t>
            </a:r>
            <a:r>
              <a:rPr lang="ko-KR" altLang="en-US" sz="1200" dirty="0"/>
              <a:t> </a:t>
            </a:r>
            <a:r>
              <a:rPr lang="ko-KR" altLang="en-US" sz="1200" dirty="0" err="1"/>
              <a:t>총용량</a:t>
            </a:r>
            <a:r>
              <a:rPr lang="ko-KR" altLang="en-US" sz="1200" dirty="0"/>
              <a:t> 비교</a:t>
            </a:r>
            <a:r>
              <a:rPr lang="en-US" altLang="ko-KR" sz="1200" dirty="0"/>
              <a:t>(</a:t>
            </a:r>
            <a:r>
              <a:rPr lang="ko-KR" altLang="en-US" sz="1200" dirty="0"/>
              <a:t>단위</a:t>
            </a:r>
            <a:r>
              <a:rPr lang="en-US" altLang="ko-KR" sz="1200" dirty="0"/>
              <a:t>: GW)</a:t>
            </a:r>
            <a:endParaRPr lang="ko-KR" altLang="en-US" sz="1200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C5BBBA98-EC99-4B91-88BD-9FFD04A913B0}"/>
              </a:ext>
            </a:extLst>
          </p:cNvPr>
          <p:cNvSpPr/>
          <p:nvPr/>
        </p:nvSpPr>
        <p:spPr>
          <a:xfrm>
            <a:off x="5728446" y="1099942"/>
            <a:ext cx="1355464" cy="31466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/>
              <a:t>4.</a:t>
            </a:r>
            <a:r>
              <a:rPr lang="ko-KR" altLang="en-US" sz="1050" dirty="0"/>
              <a:t> 연평균 재생에너지 이용률</a:t>
            </a:r>
          </a:p>
        </p:txBody>
      </p:sp>
    </p:spTree>
    <p:extLst>
      <p:ext uri="{BB962C8B-B14F-4D97-AF65-F5344CB8AC3E}">
        <p14:creationId xmlns:p14="http://schemas.microsoft.com/office/powerpoint/2010/main" val="38947401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2C623425-8ABB-4197-955C-907C210676D2}"/>
              </a:ext>
            </a:extLst>
          </p:cNvPr>
          <p:cNvSpPr/>
          <p:nvPr/>
        </p:nvSpPr>
        <p:spPr>
          <a:xfrm>
            <a:off x="1153757" y="1067024"/>
            <a:ext cx="1355464" cy="31466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0" dirty="0"/>
              <a:t>1. </a:t>
            </a:r>
            <a:r>
              <a:rPr lang="ko-KR" altLang="en-US" sz="1350" dirty="0"/>
              <a:t>발전설비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5D2C395D-4BCD-4C21-AD7C-2F91A0AD46DB}"/>
              </a:ext>
            </a:extLst>
          </p:cNvPr>
          <p:cNvSpPr/>
          <p:nvPr/>
        </p:nvSpPr>
        <p:spPr>
          <a:xfrm>
            <a:off x="2678653" y="1067024"/>
            <a:ext cx="1355464" cy="31466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0" dirty="0"/>
              <a:t>2.</a:t>
            </a:r>
            <a:r>
              <a:rPr lang="ko-KR" altLang="en-US" sz="1350" dirty="0"/>
              <a:t>발전량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6C0B6196-2A73-45B7-8FB8-DDF21B496B4A}"/>
              </a:ext>
            </a:extLst>
          </p:cNvPr>
          <p:cNvSpPr/>
          <p:nvPr/>
        </p:nvSpPr>
        <p:spPr>
          <a:xfrm>
            <a:off x="4203549" y="1067024"/>
            <a:ext cx="1355464" cy="31466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0" dirty="0"/>
              <a:t>3. </a:t>
            </a:r>
            <a:r>
              <a:rPr lang="ko-KR" altLang="en-US" sz="1350" dirty="0"/>
              <a:t>전력수요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94B33C20-02D8-4457-BA5C-98C8398A8B86}"/>
              </a:ext>
            </a:extLst>
          </p:cNvPr>
          <p:cNvSpPr/>
          <p:nvPr/>
        </p:nvSpPr>
        <p:spPr>
          <a:xfrm>
            <a:off x="7253342" y="1067024"/>
            <a:ext cx="1355464" cy="31466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5. </a:t>
            </a:r>
            <a:r>
              <a:rPr lang="ko-KR" altLang="en-US" sz="900" dirty="0"/>
              <a:t>이산화탄소 배출량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7BCDE08-9FA1-4D06-B558-7DEAB345DB23}"/>
              </a:ext>
            </a:extLst>
          </p:cNvPr>
          <p:cNvSpPr/>
          <p:nvPr/>
        </p:nvSpPr>
        <p:spPr>
          <a:xfrm>
            <a:off x="524435" y="1656006"/>
            <a:ext cx="8407101" cy="395343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F96DC647-5080-46A4-9AEB-BAF2358B173F}"/>
              </a:ext>
            </a:extLst>
          </p:cNvPr>
          <p:cNvCxnSpPr/>
          <p:nvPr/>
        </p:nvCxnSpPr>
        <p:spPr>
          <a:xfrm>
            <a:off x="524435" y="2309532"/>
            <a:ext cx="840710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33D2F57F-1164-431F-ADA6-50C23E8BADBD}"/>
              </a:ext>
            </a:extLst>
          </p:cNvPr>
          <p:cNvSpPr/>
          <p:nvPr/>
        </p:nvSpPr>
        <p:spPr>
          <a:xfrm>
            <a:off x="680516" y="2583854"/>
            <a:ext cx="473241" cy="15248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2017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07325575-25A6-48AC-85FC-261864E51AAE}"/>
              </a:ext>
            </a:extLst>
          </p:cNvPr>
          <p:cNvSpPr/>
          <p:nvPr/>
        </p:nvSpPr>
        <p:spPr>
          <a:xfrm>
            <a:off x="1217926" y="2583854"/>
            <a:ext cx="473241" cy="15248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2018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CAC0EB98-02E2-4556-8E67-9CC134630292}"/>
              </a:ext>
            </a:extLst>
          </p:cNvPr>
          <p:cNvSpPr/>
          <p:nvPr/>
        </p:nvSpPr>
        <p:spPr>
          <a:xfrm>
            <a:off x="1755336" y="2583854"/>
            <a:ext cx="473241" cy="15248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2019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70967A8C-E97B-4ED7-B0B7-BBE030FB03F9}"/>
              </a:ext>
            </a:extLst>
          </p:cNvPr>
          <p:cNvSpPr/>
          <p:nvPr/>
        </p:nvSpPr>
        <p:spPr>
          <a:xfrm>
            <a:off x="2292746" y="2583854"/>
            <a:ext cx="473241" cy="15248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2020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D68EB983-249C-4E99-8D9E-F2674337EC77}"/>
              </a:ext>
            </a:extLst>
          </p:cNvPr>
          <p:cNvSpPr/>
          <p:nvPr/>
        </p:nvSpPr>
        <p:spPr>
          <a:xfrm>
            <a:off x="2830156" y="2583854"/>
            <a:ext cx="473241" cy="15248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2021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EE14B11F-349F-40D1-BC4D-5D14FA17D653}"/>
              </a:ext>
            </a:extLst>
          </p:cNvPr>
          <p:cNvSpPr/>
          <p:nvPr/>
        </p:nvSpPr>
        <p:spPr>
          <a:xfrm>
            <a:off x="3367566" y="2583854"/>
            <a:ext cx="473241" cy="15248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2022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4ACFBA6A-3BA8-419B-9E81-C8F8581EE21C}"/>
              </a:ext>
            </a:extLst>
          </p:cNvPr>
          <p:cNvSpPr/>
          <p:nvPr/>
        </p:nvSpPr>
        <p:spPr>
          <a:xfrm>
            <a:off x="3904976" y="2583854"/>
            <a:ext cx="473241" cy="15248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2023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ED076E9-E3E0-4F8A-A1AD-645B3CDFE5E6}"/>
              </a:ext>
            </a:extLst>
          </p:cNvPr>
          <p:cNvSpPr txBox="1"/>
          <p:nvPr/>
        </p:nvSpPr>
        <p:spPr>
          <a:xfrm>
            <a:off x="624368" y="2326648"/>
            <a:ext cx="89529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dirty="0"/>
              <a:t>기준 연도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AD6B05C5-CC2D-41BF-9061-FB7DA41C59C8}"/>
              </a:ext>
            </a:extLst>
          </p:cNvPr>
          <p:cNvSpPr/>
          <p:nvPr/>
        </p:nvSpPr>
        <p:spPr>
          <a:xfrm>
            <a:off x="4691042" y="2583854"/>
            <a:ext cx="473241" cy="15248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Coal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23F9A9C3-2CEC-4C90-8F3C-C8B61EFB9561}"/>
              </a:ext>
            </a:extLst>
          </p:cNvPr>
          <p:cNvSpPr/>
          <p:nvPr/>
        </p:nvSpPr>
        <p:spPr>
          <a:xfrm>
            <a:off x="5228452" y="2583854"/>
            <a:ext cx="473241" cy="15248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LNG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7022B22E-9067-4718-A1FC-F448EDBAED7E}"/>
              </a:ext>
            </a:extLst>
          </p:cNvPr>
          <p:cNvSpPr/>
          <p:nvPr/>
        </p:nvSpPr>
        <p:spPr>
          <a:xfrm>
            <a:off x="5765862" y="2583854"/>
            <a:ext cx="473241" cy="15248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Nuclear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2EABA22A-52E3-4359-A2F0-C3B4ED67F7B8}"/>
              </a:ext>
            </a:extLst>
          </p:cNvPr>
          <p:cNvSpPr/>
          <p:nvPr/>
        </p:nvSpPr>
        <p:spPr>
          <a:xfrm>
            <a:off x="6303272" y="2583854"/>
            <a:ext cx="473241" cy="15248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Bio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A51FAB5-03B0-4BEA-B0E8-9C7BF3FEA83D}"/>
              </a:ext>
            </a:extLst>
          </p:cNvPr>
          <p:cNvSpPr txBox="1"/>
          <p:nvPr/>
        </p:nvSpPr>
        <p:spPr>
          <a:xfrm>
            <a:off x="4634894" y="2326648"/>
            <a:ext cx="89529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dirty="0"/>
              <a:t>기술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FFC6091-22F6-476F-8B86-6363FD8689E3}"/>
              </a:ext>
            </a:extLst>
          </p:cNvPr>
          <p:cNvSpPr txBox="1"/>
          <p:nvPr/>
        </p:nvSpPr>
        <p:spPr>
          <a:xfrm>
            <a:off x="624368" y="1934004"/>
            <a:ext cx="895291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발전량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D0F9C53-CCE6-44A8-A73A-D566A53C130A}"/>
              </a:ext>
            </a:extLst>
          </p:cNvPr>
          <p:cNvSpPr txBox="1"/>
          <p:nvPr/>
        </p:nvSpPr>
        <p:spPr>
          <a:xfrm>
            <a:off x="3121357" y="1671220"/>
            <a:ext cx="351984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2. </a:t>
            </a:r>
            <a:r>
              <a:rPr lang="ko-KR" altLang="en-US" dirty="0"/>
              <a:t>발전량</a:t>
            </a:r>
            <a:endParaRPr lang="en-US" altLang="ko-KR" dirty="0"/>
          </a:p>
          <a:p>
            <a:pPr algn="ctr"/>
            <a:r>
              <a:rPr lang="ko-KR" altLang="en-US" sz="1200" dirty="0" err="1"/>
              <a:t>권역별</a:t>
            </a:r>
            <a:r>
              <a:rPr lang="ko-KR" altLang="en-US" sz="1200" dirty="0"/>
              <a:t> 발전량 </a:t>
            </a:r>
            <a:r>
              <a:rPr lang="ko-KR" altLang="en-US" sz="1200" dirty="0" err="1"/>
              <a:t>기술별</a:t>
            </a:r>
            <a:r>
              <a:rPr lang="ko-KR" altLang="en-US" sz="1200" dirty="0"/>
              <a:t> </a:t>
            </a:r>
            <a:r>
              <a:rPr lang="ko-KR" altLang="en-US" sz="1200" dirty="0" err="1"/>
              <a:t>총용량</a:t>
            </a:r>
            <a:r>
              <a:rPr lang="ko-KR" altLang="en-US" sz="1200" dirty="0"/>
              <a:t> 비교</a:t>
            </a:r>
            <a:r>
              <a:rPr lang="en-US" altLang="ko-KR" sz="1200" dirty="0"/>
              <a:t>(</a:t>
            </a:r>
            <a:r>
              <a:rPr lang="ko-KR" altLang="en-US" sz="1200" dirty="0"/>
              <a:t>단위</a:t>
            </a:r>
            <a:r>
              <a:rPr lang="en-US" altLang="ko-KR" sz="1200" dirty="0"/>
              <a:t>: </a:t>
            </a:r>
            <a:r>
              <a:rPr lang="en-US" altLang="ko-KR" sz="1200" dirty="0" err="1"/>
              <a:t>Twh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527FAD5-EEE1-40CF-8F25-AB3841AB3831}"/>
              </a:ext>
            </a:extLst>
          </p:cNvPr>
          <p:cNvSpPr txBox="1"/>
          <p:nvPr/>
        </p:nvSpPr>
        <p:spPr>
          <a:xfrm>
            <a:off x="1587644" y="1952751"/>
            <a:ext cx="1263512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주력발전원 </a:t>
            </a:r>
            <a:r>
              <a:rPr lang="en-US" altLang="ko-KR" sz="1200" dirty="0"/>
              <a:t>GIS</a:t>
            </a:r>
            <a:endParaRPr lang="ko-KR" altLang="en-US" sz="12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A4F690D-B018-41CC-82B5-DC3D9CED9D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6442" y="2854885"/>
            <a:ext cx="4203549" cy="2732307"/>
          </a:xfrm>
          <a:prstGeom prst="rect">
            <a:avLst/>
          </a:prstGeom>
        </p:spPr>
      </p:pic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16BB7343-C56A-4A38-A88C-A41AB78A11AB}"/>
              </a:ext>
            </a:extLst>
          </p:cNvPr>
          <p:cNvSpPr/>
          <p:nvPr/>
        </p:nvSpPr>
        <p:spPr>
          <a:xfrm>
            <a:off x="5728446" y="1099942"/>
            <a:ext cx="1355464" cy="31466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/>
              <a:t>4.</a:t>
            </a:r>
            <a:r>
              <a:rPr lang="ko-KR" altLang="en-US" sz="1050" dirty="0"/>
              <a:t> 연평균 재생에너지 이용률</a:t>
            </a:r>
          </a:p>
        </p:txBody>
      </p:sp>
    </p:spTree>
    <p:extLst>
      <p:ext uri="{BB962C8B-B14F-4D97-AF65-F5344CB8AC3E}">
        <p14:creationId xmlns:p14="http://schemas.microsoft.com/office/powerpoint/2010/main" val="24546203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2C623425-8ABB-4197-955C-907C210676D2}"/>
              </a:ext>
            </a:extLst>
          </p:cNvPr>
          <p:cNvSpPr/>
          <p:nvPr/>
        </p:nvSpPr>
        <p:spPr>
          <a:xfrm>
            <a:off x="1153757" y="1067024"/>
            <a:ext cx="1355464" cy="31466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0" dirty="0"/>
              <a:t>1. </a:t>
            </a:r>
            <a:r>
              <a:rPr lang="ko-KR" altLang="en-US" sz="1350" dirty="0"/>
              <a:t>발전설비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5D2C395D-4BCD-4C21-AD7C-2F91A0AD46DB}"/>
              </a:ext>
            </a:extLst>
          </p:cNvPr>
          <p:cNvSpPr/>
          <p:nvPr/>
        </p:nvSpPr>
        <p:spPr>
          <a:xfrm>
            <a:off x="2678653" y="1067024"/>
            <a:ext cx="1355464" cy="31466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0" dirty="0"/>
              <a:t>2.</a:t>
            </a:r>
            <a:r>
              <a:rPr lang="ko-KR" altLang="en-US" sz="1350" dirty="0"/>
              <a:t>발전량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6C0B6196-2A73-45B7-8FB8-DDF21B496B4A}"/>
              </a:ext>
            </a:extLst>
          </p:cNvPr>
          <p:cNvSpPr/>
          <p:nvPr/>
        </p:nvSpPr>
        <p:spPr>
          <a:xfrm>
            <a:off x="4203549" y="1067024"/>
            <a:ext cx="1355464" cy="31466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0" dirty="0"/>
              <a:t>3. </a:t>
            </a:r>
            <a:r>
              <a:rPr lang="ko-KR" altLang="en-US" sz="1350" dirty="0"/>
              <a:t>전력수요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94B33C20-02D8-4457-BA5C-98C8398A8B86}"/>
              </a:ext>
            </a:extLst>
          </p:cNvPr>
          <p:cNvSpPr/>
          <p:nvPr/>
        </p:nvSpPr>
        <p:spPr>
          <a:xfrm>
            <a:off x="7253342" y="1067024"/>
            <a:ext cx="1355464" cy="31466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5. </a:t>
            </a:r>
            <a:r>
              <a:rPr lang="ko-KR" altLang="en-US" sz="900" dirty="0"/>
              <a:t>이산화탄소 배출량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7BCDE08-9FA1-4D06-B558-7DEAB345DB23}"/>
              </a:ext>
            </a:extLst>
          </p:cNvPr>
          <p:cNvSpPr/>
          <p:nvPr/>
        </p:nvSpPr>
        <p:spPr>
          <a:xfrm>
            <a:off x="524435" y="1656006"/>
            <a:ext cx="8407101" cy="395343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F96DC647-5080-46A4-9AEB-BAF2358B173F}"/>
              </a:ext>
            </a:extLst>
          </p:cNvPr>
          <p:cNvCxnSpPr/>
          <p:nvPr/>
        </p:nvCxnSpPr>
        <p:spPr>
          <a:xfrm>
            <a:off x="524435" y="2309532"/>
            <a:ext cx="840710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AFFC6091-22F6-476F-8B86-6363FD8689E3}"/>
              </a:ext>
            </a:extLst>
          </p:cNvPr>
          <p:cNvSpPr txBox="1"/>
          <p:nvPr/>
        </p:nvSpPr>
        <p:spPr>
          <a:xfrm>
            <a:off x="624368" y="1934004"/>
            <a:ext cx="895291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/>
              <a:t>발전량</a:t>
            </a:r>
            <a:endParaRPr lang="ko-KR" altLang="en-US" sz="14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D0F9C53-CCE6-44A8-A73A-D566A53C130A}"/>
              </a:ext>
            </a:extLst>
          </p:cNvPr>
          <p:cNvSpPr txBox="1"/>
          <p:nvPr/>
        </p:nvSpPr>
        <p:spPr>
          <a:xfrm>
            <a:off x="3121357" y="1671220"/>
            <a:ext cx="351984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2. </a:t>
            </a:r>
            <a:r>
              <a:rPr lang="ko-KR" altLang="en-US" dirty="0"/>
              <a:t>발전량</a:t>
            </a:r>
            <a:endParaRPr lang="en-US" altLang="ko-KR" dirty="0"/>
          </a:p>
          <a:p>
            <a:pPr algn="ctr"/>
            <a:r>
              <a:rPr lang="ko-KR" altLang="en-US" sz="1200" dirty="0" err="1"/>
              <a:t>권역별</a:t>
            </a:r>
            <a:r>
              <a:rPr lang="ko-KR" altLang="en-US" sz="1200" dirty="0"/>
              <a:t> 발전량 </a:t>
            </a:r>
            <a:r>
              <a:rPr lang="ko-KR" altLang="en-US" sz="1200" dirty="0" err="1"/>
              <a:t>기술별</a:t>
            </a:r>
            <a:r>
              <a:rPr lang="ko-KR" altLang="en-US" sz="1200" dirty="0"/>
              <a:t> </a:t>
            </a:r>
            <a:r>
              <a:rPr lang="ko-KR" altLang="en-US" sz="1200" dirty="0" err="1"/>
              <a:t>총용량</a:t>
            </a:r>
            <a:r>
              <a:rPr lang="ko-KR" altLang="en-US" sz="1200" dirty="0"/>
              <a:t> 비교</a:t>
            </a:r>
            <a:r>
              <a:rPr lang="en-US" altLang="ko-KR" sz="1200" dirty="0"/>
              <a:t>(</a:t>
            </a:r>
            <a:r>
              <a:rPr lang="ko-KR" altLang="en-US" sz="1200" dirty="0"/>
              <a:t>단위</a:t>
            </a:r>
            <a:r>
              <a:rPr lang="en-US" altLang="ko-KR" sz="1200" dirty="0"/>
              <a:t>: </a:t>
            </a:r>
            <a:r>
              <a:rPr lang="en-US" altLang="ko-KR" sz="1200" dirty="0" err="1"/>
              <a:t>Twh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527FAD5-EEE1-40CF-8F25-AB3841AB3831}"/>
              </a:ext>
            </a:extLst>
          </p:cNvPr>
          <p:cNvSpPr txBox="1"/>
          <p:nvPr/>
        </p:nvSpPr>
        <p:spPr>
          <a:xfrm>
            <a:off x="1587644" y="1952751"/>
            <a:ext cx="1263512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주력발전원 </a:t>
            </a:r>
            <a:r>
              <a:rPr lang="en-US" altLang="ko-KR" sz="1200" dirty="0"/>
              <a:t>GIS</a:t>
            </a:r>
            <a:endParaRPr lang="ko-KR" altLang="en-US" sz="1200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869D40B0-70E3-4414-8CCE-C034060B98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9730" y="2583854"/>
            <a:ext cx="4563101" cy="2696378"/>
          </a:xfrm>
          <a:prstGeom prst="rect">
            <a:avLst/>
          </a:prstGeom>
        </p:spPr>
      </p:pic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907FFBFD-D0CE-421C-85E2-A6A68ADB1035}"/>
              </a:ext>
            </a:extLst>
          </p:cNvPr>
          <p:cNvSpPr/>
          <p:nvPr/>
        </p:nvSpPr>
        <p:spPr>
          <a:xfrm>
            <a:off x="5728446" y="1099942"/>
            <a:ext cx="1355464" cy="31466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/>
              <a:t>4.</a:t>
            </a:r>
            <a:r>
              <a:rPr lang="ko-KR" altLang="en-US" sz="1050" dirty="0"/>
              <a:t> 연평균 재생에너지 이용률</a:t>
            </a:r>
          </a:p>
        </p:txBody>
      </p:sp>
    </p:spTree>
    <p:extLst>
      <p:ext uri="{BB962C8B-B14F-4D97-AF65-F5344CB8AC3E}">
        <p14:creationId xmlns:p14="http://schemas.microsoft.com/office/powerpoint/2010/main" val="956061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2C623425-8ABB-4197-955C-907C210676D2}"/>
              </a:ext>
            </a:extLst>
          </p:cNvPr>
          <p:cNvSpPr/>
          <p:nvPr/>
        </p:nvSpPr>
        <p:spPr>
          <a:xfrm>
            <a:off x="1153757" y="1067024"/>
            <a:ext cx="1355464" cy="31466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0" dirty="0"/>
              <a:t>1. </a:t>
            </a:r>
            <a:r>
              <a:rPr lang="ko-KR" altLang="en-US" sz="1350" dirty="0"/>
              <a:t>발전설비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5D2C395D-4BCD-4C21-AD7C-2F91A0AD46DB}"/>
              </a:ext>
            </a:extLst>
          </p:cNvPr>
          <p:cNvSpPr/>
          <p:nvPr/>
        </p:nvSpPr>
        <p:spPr>
          <a:xfrm>
            <a:off x="2678653" y="1067024"/>
            <a:ext cx="1355464" cy="31466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0" dirty="0"/>
              <a:t>2.</a:t>
            </a:r>
            <a:r>
              <a:rPr lang="ko-KR" altLang="en-US" sz="1350" dirty="0"/>
              <a:t>발전량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6C0B6196-2A73-45B7-8FB8-DDF21B496B4A}"/>
              </a:ext>
            </a:extLst>
          </p:cNvPr>
          <p:cNvSpPr/>
          <p:nvPr/>
        </p:nvSpPr>
        <p:spPr>
          <a:xfrm>
            <a:off x="4203549" y="1067024"/>
            <a:ext cx="1355464" cy="31466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0" dirty="0"/>
              <a:t>3. </a:t>
            </a:r>
            <a:r>
              <a:rPr lang="ko-KR" altLang="en-US" sz="1350" dirty="0"/>
              <a:t>전력수요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94B33C20-02D8-4457-BA5C-98C8398A8B86}"/>
              </a:ext>
            </a:extLst>
          </p:cNvPr>
          <p:cNvSpPr/>
          <p:nvPr/>
        </p:nvSpPr>
        <p:spPr>
          <a:xfrm>
            <a:off x="7253342" y="1067024"/>
            <a:ext cx="1355464" cy="31466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5. </a:t>
            </a:r>
            <a:r>
              <a:rPr lang="ko-KR" altLang="en-US" sz="900" dirty="0"/>
              <a:t>이산화탄소 배출량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7BCDE08-9FA1-4D06-B558-7DEAB345DB23}"/>
              </a:ext>
            </a:extLst>
          </p:cNvPr>
          <p:cNvSpPr/>
          <p:nvPr/>
        </p:nvSpPr>
        <p:spPr>
          <a:xfrm>
            <a:off x="524435" y="1656006"/>
            <a:ext cx="8407101" cy="395343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F96DC647-5080-46A4-9AEB-BAF2358B173F}"/>
              </a:ext>
            </a:extLst>
          </p:cNvPr>
          <p:cNvCxnSpPr/>
          <p:nvPr/>
        </p:nvCxnSpPr>
        <p:spPr>
          <a:xfrm>
            <a:off x="524435" y="2309532"/>
            <a:ext cx="840710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33D2F57F-1164-431F-ADA6-50C23E8BADBD}"/>
              </a:ext>
            </a:extLst>
          </p:cNvPr>
          <p:cNvSpPr/>
          <p:nvPr/>
        </p:nvSpPr>
        <p:spPr>
          <a:xfrm>
            <a:off x="680516" y="2583854"/>
            <a:ext cx="473241" cy="15248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2017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07325575-25A6-48AC-85FC-261864E51AAE}"/>
              </a:ext>
            </a:extLst>
          </p:cNvPr>
          <p:cNvSpPr/>
          <p:nvPr/>
        </p:nvSpPr>
        <p:spPr>
          <a:xfrm>
            <a:off x="1217926" y="2583854"/>
            <a:ext cx="473241" cy="15248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2018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CAC0EB98-02E2-4556-8E67-9CC134630292}"/>
              </a:ext>
            </a:extLst>
          </p:cNvPr>
          <p:cNvSpPr/>
          <p:nvPr/>
        </p:nvSpPr>
        <p:spPr>
          <a:xfrm>
            <a:off x="1755336" y="2583854"/>
            <a:ext cx="473241" cy="15248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2019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70967A8C-E97B-4ED7-B0B7-BBE030FB03F9}"/>
              </a:ext>
            </a:extLst>
          </p:cNvPr>
          <p:cNvSpPr/>
          <p:nvPr/>
        </p:nvSpPr>
        <p:spPr>
          <a:xfrm>
            <a:off x="2292746" y="2583854"/>
            <a:ext cx="473241" cy="15248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2020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D68EB983-249C-4E99-8D9E-F2674337EC77}"/>
              </a:ext>
            </a:extLst>
          </p:cNvPr>
          <p:cNvSpPr/>
          <p:nvPr/>
        </p:nvSpPr>
        <p:spPr>
          <a:xfrm>
            <a:off x="2830156" y="2583854"/>
            <a:ext cx="473241" cy="15248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2021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EE14B11F-349F-40D1-BC4D-5D14FA17D653}"/>
              </a:ext>
            </a:extLst>
          </p:cNvPr>
          <p:cNvSpPr/>
          <p:nvPr/>
        </p:nvSpPr>
        <p:spPr>
          <a:xfrm>
            <a:off x="3367566" y="2583854"/>
            <a:ext cx="473241" cy="15248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2022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4ACFBA6A-3BA8-419B-9E81-C8F8581EE21C}"/>
              </a:ext>
            </a:extLst>
          </p:cNvPr>
          <p:cNvSpPr/>
          <p:nvPr/>
        </p:nvSpPr>
        <p:spPr>
          <a:xfrm>
            <a:off x="3904976" y="2583854"/>
            <a:ext cx="473241" cy="15248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2023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ED076E9-E3E0-4F8A-A1AD-645B3CDFE5E6}"/>
              </a:ext>
            </a:extLst>
          </p:cNvPr>
          <p:cNvSpPr txBox="1"/>
          <p:nvPr/>
        </p:nvSpPr>
        <p:spPr>
          <a:xfrm>
            <a:off x="624368" y="2326648"/>
            <a:ext cx="89529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dirty="0"/>
              <a:t>기준 연도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FFC6091-22F6-476F-8B86-6363FD8689E3}"/>
              </a:ext>
            </a:extLst>
          </p:cNvPr>
          <p:cNvSpPr txBox="1"/>
          <p:nvPr/>
        </p:nvSpPr>
        <p:spPr>
          <a:xfrm>
            <a:off x="624368" y="1934004"/>
            <a:ext cx="895291" cy="25391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200"/>
            </a:lvl1pPr>
          </a:lstStyle>
          <a:p>
            <a:r>
              <a:rPr lang="ko-KR" altLang="en-US" sz="1050" dirty="0"/>
              <a:t>총 전력수요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D0F9C53-CCE6-44A8-A73A-D566A53C130A}"/>
              </a:ext>
            </a:extLst>
          </p:cNvPr>
          <p:cNvSpPr txBox="1"/>
          <p:nvPr/>
        </p:nvSpPr>
        <p:spPr>
          <a:xfrm>
            <a:off x="3121357" y="1671220"/>
            <a:ext cx="351984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3. </a:t>
            </a:r>
            <a:r>
              <a:rPr lang="ko-KR" altLang="en-US" dirty="0"/>
              <a:t>전력수요</a:t>
            </a:r>
            <a:endParaRPr lang="en-US" altLang="ko-KR" dirty="0"/>
          </a:p>
          <a:p>
            <a:pPr algn="ctr"/>
            <a:r>
              <a:rPr lang="ko-KR" altLang="en-US" sz="1200" dirty="0" err="1"/>
              <a:t>권역별</a:t>
            </a:r>
            <a:r>
              <a:rPr lang="ko-KR" altLang="en-US" sz="1200" dirty="0"/>
              <a:t> 전력수요 </a:t>
            </a:r>
            <a:r>
              <a:rPr lang="ko-KR" altLang="en-US" sz="1200" dirty="0" err="1"/>
              <a:t>총용량</a:t>
            </a:r>
            <a:r>
              <a:rPr lang="ko-KR" altLang="en-US" sz="1200" dirty="0"/>
              <a:t> 비교</a:t>
            </a:r>
            <a:r>
              <a:rPr lang="en-US" altLang="ko-KR" sz="1200" dirty="0"/>
              <a:t>(</a:t>
            </a:r>
            <a:r>
              <a:rPr lang="ko-KR" altLang="en-US" sz="1200" dirty="0"/>
              <a:t>단위</a:t>
            </a:r>
            <a:r>
              <a:rPr lang="en-US" altLang="ko-KR" sz="1200" dirty="0"/>
              <a:t>: </a:t>
            </a:r>
            <a:r>
              <a:rPr lang="en-US" altLang="ko-KR" sz="1200" dirty="0" err="1"/>
              <a:t>Twh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527FAD5-EEE1-40CF-8F25-AB3841AB3831}"/>
              </a:ext>
            </a:extLst>
          </p:cNvPr>
          <p:cNvSpPr txBox="1"/>
          <p:nvPr/>
        </p:nvSpPr>
        <p:spPr>
          <a:xfrm>
            <a:off x="1587644" y="1952751"/>
            <a:ext cx="1263512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총전력수요 </a:t>
            </a:r>
            <a:r>
              <a:rPr lang="en-US" altLang="ko-KR" sz="1200" dirty="0"/>
              <a:t>GIS</a:t>
            </a:r>
            <a:endParaRPr lang="ko-KR" altLang="en-US" sz="12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B65D180-62D1-4F0F-AB19-E5B9CA4D46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1156" y="2848769"/>
            <a:ext cx="4109239" cy="2671005"/>
          </a:xfrm>
          <a:prstGeom prst="rect">
            <a:avLst/>
          </a:prstGeom>
        </p:spPr>
      </p:pic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B872902E-B9D0-4862-A32A-AB30C0FDAD4A}"/>
              </a:ext>
            </a:extLst>
          </p:cNvPr>
          <p:cNvSpPr/>
          <p:nvPr/>
        </p:nvSpPr>
        <p:spPr>
          <a:xfrm>
            <a:off x="5728446" y="1099942"/>
            <a:ext cx="1355464" cy="31466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/>
              <a:t>4.</a:t>
            </a:r>
            <a:r>
              <a:rPr lang="ko-KR" altLang="en-US" sz="1050" dirty="0"/>
              <a:t> 연평균 재생에너지 이용률</a:t>
            </a:r>
          </a:p>
        </p:txBody>
      </p:sp>
    </p:spTree>
    <p:extLst>
      <p:ext uri="{BB962C8B-B14F-4D97-AF65-F5344CB8AC3E}">
        <p14:creationId xmlns:p14="http://schemas.microsoft.com/office/powerpoint/2010/main" val="42258585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2C623425-8ABB-4197-955C-907C210676D2}"/>
              </a:ext>
            </a:extLst>
          </p:cNvPr>
          <p:cNvSpPr/>
          <p:nvPr/>
        </p:nvSpPr>
        <p:spPr>
          <a:xfrm>
            <a:off x="1153757" y="1067024"/>
            <a:ext cx="1355464" cy="31466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0" dirty="0"/>
              <a:t>1. </a:t>
            </a:r>
            <a:r>
              <a:rPr lang="ko-KR" altLang="en-US" sz="1350" dirty="0"/>
              <a:t>발전설비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5D2C395D-4BCD-4C21-AD7C-2F91A0AD46DB}"/>
              </a:ext>
            </a:extLst>
          </p:cNvPr>
          <p:cNvSpPr/>
          <p:nvPr/>
        </p:nvSpPr>
        <p:spPr>
          <a:xfrm>
            <a:off x="2678653" y="1067024"/>
            <a:ext cx="1355464" cy="31466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0" dirty="0"/>
              <a:t>2.</a:t>
            </a:r>
            <a:r>
              <a:rPr lang="ko-KR" altLang="en-US" sz="1350" dirty="0"/>
              <a:t>발전량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6C0B6196-2A73-45B7-8FB8-DDF21B496B4A}"/>
              </a:ext>
            </a:extLst>
          </p:cNvPr>
          <p:cNvSpPr/>
          <p:nvPr/>
        </p:nvSpPr>
        <p:spPr>
          <a:xfrm>
            <a:off x="4203549" y="1067024"/>
            <a:ext cx="1355464" cy="31466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0" dirty="0"/>
              <a:t>3. </a:t>
            </a:r>
            <a:r>
              <a:rPr lang="ko-KR" altLang="en-US" sz="1350" dirty="0"/>
              <a:t>전력수요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94B33C20-02D8-4457-BA5C-98C8398A8B86}"/>
              </a:ext>
            </a:extLst>
          </p:cNvPr>
          <p:cNvSpPr/>
          <p:nvPr/>
        </p:nvSpPr>
        <p:spPr>
          <a:xfrm>
            <a:off x="7253342" y="1067024"/>
            <a:ext cx="1355464" cy="31466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5. </a:t>
            </a:r>
            <a:r>
              <a:rPr lang="ko-KR" altLang="en-US" sz="900" dirty="0"/>
              <a:t>이산화탄소 배출량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7BCDE08-9FA1-4D06-B558-7DEAB345DB23}"/>
              </a:ext>
            </a:extLst>
          </p:cNvPr>
          <p:cNvSpPr/>
          <p:nvPr/>
        </p:nvSpPr>
        <p:spPr>
          <a:xfrm>
            <a:off x="524435" y="1656006"/>
            <a:ext cx="8407101" cy="395343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F96DC647-5080-46A4-9AEB-BAF2358B173F}"/>
              </a:ext>
            </a:extLst>
          </p:cNvPr>
          <p:cNvCxnSpPr/>
          <p:nvPr/>
        </p:nvCxnSpPr>
        <p:spPr>
          <a:xfrm>
            <a:off x="524435" y="2309532"/>
            <a:ext cx="840710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AFFC6091-22F6-476F-8B86-6363FD8689E3}"/>
              </a:ext>
            </a:extLst>
          </p:cNvPr>
          <p:cNvSpPr txBox="1"/>
          <p:nvPr/>
        </p:nvSpPr>
        <p:spPr>
          <a:xfrm>
            <a:off x="624368" y="1934004"/>
            <a:ext cx="895291" cy="2539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50" dirty="0"/>
              <a:t>총 전력수요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D0F9C53-CCE6-44A8-A73A-D566A53C130A}"/>
              </a:ext>
            </a:extLst>
          </p:cNvPr>
          <p:cNvSpPr txBox="1"/>
          <p:nvPr/>
        </p:nvSpPr>
        <p:spPr>
          <a:xfrm>
            <a:off x="3121357" y="1671220"/>
            <a:ext cx="351984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3. </a:t>
            </a:r>
            <a:r>
              <a:rPr lang="ko-KR" altLang="en-US" dirty="0"/>
              <a:t>전력수요</a:t>
            </a:r>
            <a:endParaRPr lang="en-US" altLang="ko-KR" dirty="0"/>
          </a:p>
          <a:p>
            <a:pPr algn="ctr"/>
            <a:r>
              <a:rPr lang="ko-KR" altLang="en-US" sz="1200" dirty="0" err="1"/>
              <a:t>권역별</a:t>
            </a:r>
            <a:r>
              <a:rPr lang="ko-KR" altLang="en-US" sz="1200" dirty="0"/>
              <a:t> 전력수요 </a:t>
            </a:r>
            <a:r>
              <a:rPr lang="ko-KR" altLang="en-US" sz="1200" dirty="0" err="1"/>
              <a:t>총용량</a:t>
            </a:r>
            <a:r>
              <a:rPr lang="ko-KR" altLang="en-US" sz="1200" dirty="0"/>
              <a:t> 비교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527FAD5-EEE1-40CF-8F25-AB3841AB3831}"/>
              </a:ext>
            </a:extLst>
          </p:cNvPr>
          <p:cNvSpPr txBox="1"/>
          <p:nvPr/>
        </p:nvSpPr>
        <p:spPr>
          <a:xfrm>
            <a:off x="1587644" y="1952751"/>
            <a:ext cx="1263512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200"/>
            </a:lvl1pPr>
          </a:lstStyle>
          <a:p>
            <a:r>
              <a:rPr lang="ko-KR" altLang="en-US" dirty="0"/>
              <a:t>총전력수요 </a:t>
            </a:r>
            <a:r>
              <a:rPr lang="en-US" altLang="ko-KR" dirty="0"/>
              <a:t>GIS</a:t>
            </a:r>
            <a:endParaRPr lang="ko-KR" alt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8D0BB0EC-1205-40EC-B613-9295B0CE73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3718" y="2567292"/>
            <a:ext cx="4915125" cy="2904393"/>
          </a:xfrm>
          <a:prstGeom prst="rect">
            <a:avLst/>
          </a:prstGeom>
        </p:spPr>
      </p:pic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D7618AD3-46DD-4986-A087-0D66898A9657}"/>
              </a:ext>
            </a:extLst>
          </p:cNvPr>
          <p:cNvSpPr/>
          <p:nvPr/>
        </p:nvSpPr>
        <p:spPr>
          <a:xfrm>
            <a:off x="5728446" y="1099942"/>
            <a:ext cx="1355464" cy="31466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/>
              <a:t>4.</a:t>
            </a:r>
            <a:r>
              <a:rPr lang="ko-KR" altLang="en-US" sz="1050" dirty="0"/>
              <a:t> 연평균 재생에너지 이용률</a:t>
            </a:r>
          </a:p>
        </p:txBody>
      </p:sp>
    </p:spTree>
    <p:extLst>
      <p:ext uri="{BB962C8B-B14F-4D97-AF65-F5344CB8AC3E}">
        <p14:creationId xmlns:p14="http://schemas.microsoft.com/office/powerpoint/2010/main" val="6886111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림 21">
            <a:extLst>
              <a:ext uri="{FF2B5EF4-FFF2-40B4-BE49-F238E27FC236}">
                <a16:creationId xmlns:a16="http://schemas.microsoft.com/office/drawing/2014/main" id="{4F196BA1-1220-4BDA-BE73-E05EF9B15B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4326" y="2453147"/>
            <a:ext cx="4709160" cy="3060954"/>
          </a:xfrm>
          <a:prstGeom prst="rect">
            <a:avLst/>
          </a:prstGeom>
        </p:spPr>
      </p:pic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2C623425-8ABB-4197-955C-907C210676D2}"/>
              </a:ext>
            </a:extLst>
          </p:cNvPr>
          <p:cNvSpPr/>
          <p:nvPr/>
        </p:nvSpPr>
        <p:spPr>
          <a:xfrm>
            <a:off x="1153757" y="202962"/>
            <a:ext cx="1355464" cy="31466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0" dirty="0"/>
              <a:t>1. </a:t>
            </a:r>
            <a:r>
              <a:rPr lang="ko-KR" altLang="en-US" sz="1350" dirty="0"/>
              <a:t>발전설비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5D2C395D-4BCD-4C21-AD7C-2F91A0AD46DB}"/>
              </a:ext>
            </a:extLst>
          </p:cNvPr>
          <p:cNvSpPr/>
          <p:nvPr/>
        </p:nvSpPr>
        <p:spPr>
          <a:xfrm>
            <a:off x="2678653" y="202962"/>
            <a:ext cx="1355464" cy="31466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0" dirty="0"/>
              <a:t>2.</a:t>
            </a:r>
            <a:r>
              <a:rPr lang="ko-KR" altLang="en-US" sz="1350" dirty="0"/>
              <a:t>발전량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6C0B6196-2A73-45B7-8FB8-DDF21B496B4A}"/>
              </a:ext>
            </a:extLst>
          </p:cNvPr>
          <p:cNvSpPr/>
          <p:nvPr/>
        </p:nvSpPr>
        <p:spPr>
          <a:xfrm>
            <a:off x="4203549" y="202962"/>
            <a:ext cx="1355464" cy="31466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0" dirty="0"/>
              <a:t>3. </a:t>
            </a:r>
            <a:r>
              <a:rPr lang="ko-KR" altLang="en-US" sz="1350" dirty="0"/>
              <a:t>전력수요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DD9F909B-31DC-4E4C-BDB9-830D8BFCAEAF}"/>
              </a:ext>
            </a:extLst>
          </p:cNvPr>
          <p:cNvSpPr/>
          <p:nvPr/>
        </p:nvSpPr>
        <p:spPr>
          <a:xfrm>
            <a:off x="5728446" y="202962"/>
            <a:ext cx="1355464" cy="31466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/>
              <a:t>4.</a:t>
            </a:r>
            <a:r>
              <a:rPr lang="ko-KR" altLang="en-US" sz="1050" dirty="0"/>
              <a:t> 연평균 재생에너지 이용률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94B33C20-02D8-4457-BA5C-98C8398A8B86}"/>
              </a:ext>
            </a:extLst>
          </p:cNvPr>
          <p:cNvSpPr/>
          <p:nvPr/>
        </p:nvSpPr>
        <p:spPr>
          <a:xfrm>
            <a:off x="7253342" y="202962"/>
            <a:ext cx="1355464" cy="31466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5. </a:t>
            </a:r>
            <a:r>
              <a:rPr lang="ko-KR" altLang="en-US" sz="900" dirty="0"/>
              <a:t>이산화탄소 배출량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7BCDE08-9FA1-4D06-B558-7DEAB345DB23}"/>
              </a:ext>
            </a:extLst>
          </p:cNvPr>
          <p:cNvSpPr/>
          <p:nvPr/>
        </p:nvSpPr>
        <p:spPr>
          <a:xfrm>
            <a:off x="524435" y="746760"/>
            <a:ext cx="8407101" cy="486268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F96DC647-5080-46A4-9AEB-BAF2358B173F}"/>
              </a:ext>
            </a:extLst>
          </p:cNvPr>
          <p:cNvCxnSpPr/>
          <p:nvPr/>
        </p:nvCxnSpPr>
        <p:spPr>
          <a:xfrm>
            <a:off x="524435" y="2309532"/>
            <a:ext cx="840710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33D2F57F-1164-431F-ADA6-50C23E8BADBD}"/>
              </a:ext>
            </a:extLst>
          </p:cNvPr>
          <p:cNvSpPr/>
          <p:nvPr/>
        </p:nvSpPr>
        <p:spPr>
          <a:xfrm>
            <a:off x="680516" y="2583854"/>
            <a:ext cx="743472" cy="15248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Solar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07325575-25A6-48AC-85FC-261864E51AAE}"/>
              </a:ext>
            </a:extLst>
          </p:cNvPr>
          <p:cNvSpPr/>
          <p:nvPr/>
        </p:nvSpPr>
        <p:spPr>
          <a:xfrm>
            <a:off x="1498570" y="2583854"/>
            <a:ext cx="743472" cy="15248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Wind-on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CAC0EB98-02E2-4556-8E67-9CC134630292}"/>
              </a:ext>
            </a:extLst>
          </p:cNvPr>
          <p:cNvSpPr/>
          <p:nvPr/>
        </p:nvSpPr>
        <p:spPr>
          <a:xfrm>
            <a:off x="2316624" y="2583854"/>
            <a:ext cx="743472" cy="15248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Wind-off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ED076E9-E3E0-4F8A-A1AD-645B3CDFE5E6}"/>
              </a:ext>
            </a:extLst>
          </p:cNvPr>
          <p:cNvSpPr txBox="1"/>
          <p:nvPr/>
        </p:nvSpPr>
        <p:spPr>
          <a:xfrm>
            <a:off x="624368" y="2326648"/>
            <a:ext cx="89529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dirty="0" err="1"/>
              <a:t>기술별</a:t>
            </a:r>
            <a:endParaRPr lang="ko-KR" altLang="en-US" sz="105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FFC6091-22F6-476F-8B86-6363FD8689E3}"/>
              </a:ext>
            </a:extLst>
          </p:cNvPr>
          <p:cNvSpPr txBox="1"/>
          <p:nvPr/>
        </p:nvSpPr>
        <p:spPr>
          <a:xfrm>
            <a:off x="624368" y="1934004"/>
            <a:ext cx="895291" cy="25391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50" dirty="0" err="1"/>
              <a:t>평균이용률</a:t>
            </a:r>
            <a:endParaRPr lang="ko-KR" altLang="en-US" sz="105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D0F9C53-CCE6-44A8-A73A-D566A53C130A}"/>
              </a:ext>
            </a:extLst>
          </p:cNvPr>
          <p:cNvSpPr txBox="1"/>
          <p:nvPr/>
        </p:nvSpPr>
        <p:spPr>
          <a:xfrm>
            <a:off x="2753374" y="1066900"/>
            <a:ext cx="363725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4. </a:t>
            </a:r>
            <a:r>
              <a:rPr lang="ko-KR" altLang="en-US" dirty="0"/>
              <a:t>연평균 재생에너지 이용률</a:t>
            </a:r>
            <a:endParaRPr lang="en-US" altLang="ko-KR" dirty="0"/>
          </a:p>
          <a:p>
            <a:pPr algn="ctr"/>
            <a:r>
              <a:rPr lang="ko-KR" altLang="en-US" sz="1200" dirty="0"/>
              <a:t>전세계 국가별 친환경에너지 </a:t>
            </a:r>
            <a:r>
              <a:rPr lang="ko-KR" altLang="en-US" sz="1200" dirty="0" err="1"/>
              <a:t>평균이용률</a:t>
            </a:r>
            <a:r>
              <a:rPr lang="ko-KR" altLang="en-US" sz="1200" dirty="0"/>
              <a:t> 수준 비교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7D6FD6E8-1E5C-48DE-B2FE-B6D0281C28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0663" y="146516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0CA50D7-4C13-442F-A76A-E3F94EFEE430}"/>
              </a:ext>
            </a:extLst>
          </p:cNvPr>
          <p:cNvSpPr txBox="1"/>
          <p:nvPr/>
        </p:nvSpPr>
        <p:spPr>
          <a:xfrm>
            <a:off x="1947104" y="1944273"/>
            <a:ext cx="1112992" cy="2539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50" dirty="0" err="1"/>
              <a:t>평균이용률</a:t>
            </a:r>
            <a:r>
              <a:rPr lang="ko-KR" altLang="en-US" sz="1050" dirty="0"/>
              <a:t> </a:t>
            </a:r>
            <a:r>
              <a:rPr lang="en-US" altLang="ko-KR" sz="1050" dirty="0"/>
              <a:t>GIS</a:t>
            </a:r>
            <a:endParaRPr lang="ko-KR" altLang="en-US" sz="1050" dirty="0"/>
          </a:p>
        </p:txBody>
      </p:sp>
    </p:spTree>
    <p:extLst>
      <p:ext uri="{BB962C8B-B14F-4D97-AF65-F5344CB8AC3E}">
        <p14:creationId xmlns:p14="http://schemas.microsoft.com/office/powerpoint/2010/main" val="1235286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2C623425-8ABB-4197-955C-907C210676D2}"/>
              </a:ext>
            </a:extLst>
          </p:cNvPr>
          <p:cNvSpPr/>
          <p:nvPr/>
        </p:nvSpPr>
        <p:spPr>
          <a:xfrm>
            <a:off x="1153757" y="185568"/>
            <a:ext cx="1355464" cy="31466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0" dirty="0"/>
              <a:t>1. </a:t>
            </a:r>
            <a:r>
              <a:rPr lang="ko-KR" altLang="en-US" sz="1350" dirty="0"/>
              <a:t>발전설비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5D2C395D-4BCD-4C21-AD7C-2F91A0AD46DB}"/>
              </a:ext>
            </a:extLst>
          </p:cNvPr>
          <p:cNvSpPr/>
          <p:nvPr/>
        </p:nvSpPr>
        <p:spPr>
          <a:xfrm>
            <a:off x="2678653" y="185568"/>
            <a:ext cx="1355464" cy="31466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0" dirty="0"/>
              <a:t>2.</a:t>
            </a:r>
            <a:r>
              <a:rPr lang="ko-KR" altLang="en-US" sz="1350" dirty="0"/>
              <a:t>발전량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6C0B6196-2A73-45B7-8FB8-DDF21B496B4A}"/>
              </a:ext>
            </a:extLst>
          </p:cNvPr>
          <p:cNvSpPr/>
          <p:nvPr/>
        </p:nvSpPr>
        <p:spPr>
          <a:xfrm>
            <a:off x="4203549" y="185568"/>
            <a:ext cx="1355464" cy="31466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0" dirty="0"/>
              <a:t>3. </a:t>
            </a:r>
            <a:r>
              <a:rPr lang="ko-KR" altLang="en-US" sz="1350" dirty="0"/>
              <a:t>전력수요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94B33C20-02D8-4457-BA5C-98C8398A8B86}"/>
              </a:ext>
            </a:extLst>
          </p:cNvPr>
          <p:cNvSpPr/>
          <p:nvPr/>
        </p:nvSpPr>
        <p:spPr>
          <a:xfrm>
            <a:off x="7253342" y="185568"/>
            <a:ext cx="1355464" cy="31466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5. </a:t>
            </a:r>
            <a:r>
              <a:rPr lang="ko-KR" altLang="en-US" sz="900" dirty="0"/>
              <a:t>이산화탄소 배출량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7BCDE08-9FA1-4D06-B558-7DEAB345DB23}"/>
              </a:ext>
            </a:extLst>
          </p:cNvPr>
          <p:cNvSpPr/>
          <p:nvPr/>
        </p:nvSpPr>
        <p:spPr>
          <a:xfrm>
            <a:off x="524435" y="617220"/>
            <a:ext cx="8407101" cy="499222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F96DC647-5080-46A4-9AEB-BAF2358B173F}"/>
              </a:ext>
            </a:extLst>
          </p:cNvPr>
          <p:cNvCxnSpPr/>
          <p:nvPr/>
        </p:nvCxnSpPr>
        <p:spPr>
          <a:xfrm>
            <a:off x="524435" y="2309532"/>
            <a:ext cx="840710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AFFC6091-22F6-476F-8B86-6363FD8689E3}"/>
              </a:ext>
            </a:extLst>
          </p:cNvPr>
          <p:cNvSpPr txBox="1"/>
          <p:nvPr/>
        </p:nvSpPr>
        <p:spPr>
          <a:xfrm>
            <a:off x="1947104" y="1944273"/>
            <a:ext cx="1112992" cy="25391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50" dirty="0" err="1"/>
              <a:t>평균이용률</a:t>
            </a:r>
            <a:r>
              <a:rPr lang="ko-KR" altLang="en-US" sz="1050" dirty="0"/>
              <a:t> </a:t>
            </a:r>
            <a:r>
              <a:rPr lang="en-US" altLang="ko-KR" sz="1050" dirty="0"/>
              <a:t>GIS</a:t>
            </a:r>
            <a:endParaRPr lang="ko-KR" altLang="en-US" sz="105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D0F9C53-CCE6-44A8-A73A-D566A53C130A}"/>
              </a:ext>
            </a:extLst>
          </p:cNvPr>
          <p:cNvSpPr txBox="1"/>
          <p:nvPr/>
        </p:nvSpPr>
        <p:spPr>
          <a:xfrm>
            <a:off x="2886332" y="1003748"/>
            <a:ext cx="368330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4. </a:t>
            </a:r>
            <a:r>
              <a:rPr lang="ko-KR" altLang="en-US" dirty="0"/>
              <a:t>연평균 재생에너지 이용률</a:t>
            </a:r>
            <a:endParaRPr lang="en-US" altLang="ko-KR" dirty="0"/>
          </a:p>
          <a:p>
            <a:pPr algn="ctr"/>
            <a:r>
              <a:rPr lang="ko-KR" altLang="en-US" sz="1200" dirty="0"/>
              <a:t>전세계 국가별 친환경에너지 </a:t>
            </a:r>
            <a:r>
              <a:rPr lang="ko-KR" altLang="en-US" sz="1200" dirty="0" err="1"/>
              <a:t>평균이용률</a:t>
            </a:r>
            <a:r>
              <a:rPr lang="ko-KR" altLang="en-US" sz="1200" dirty="0"/>
              <a:t> 수준 비교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527FAD5-EEE1-40CF-8F25-AB3841AB3831}"/>
              </a:ext>
            </a:extLst>
          </p:cNvPr>
          <p:cNvSpPr txBox="1"/>
          <p:nvPr/>
        </p:nvSpPr>
        <p:spPr>
          <a:xfrm>
            <a:off x="680516" y="1938931"/>
            <a:ext cx="1263512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/>
              <a:t>평균이용률</a:t>
            </a:r>
            <a:endParaRPr lang="ko-KR" altLang="en-US" sz="12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1C42B39-BE28-4BDE-BF99-BE22FBF9D8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2645" y="2775440"/>
            <a:ext cx="4310679" cy="2547220"/>
          </a:xfrm>
          <a:prstGeom prst="rect">
            <a:avLst/>
          </a:prstGeom>
        </p:spPr>
      </p:pic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7B0B1E34-83EB-4C19-9896-8B9FD4101879}"/>
              </a:ext>
            </a:extLst>
          </p:cNvPr>
          <p:cNvSpPr/>
          <p:nvPr/>
        </p:nvSpPr>
        <p:spPr>
          <a:xfrm>
            <a:off x="680516" y="2583854"/>
            <a:ext cx="743472" cy="15248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Solar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D8555353-4939-4275-B282-C4F8F91E17CE}"/>
              </a:ext>
            </a:extLst>
          </p:cNvPr>
          <p:cNvSpPr/>
          <p:nvPr/>
        </p:nvSpPr>
        <p:spPr>
          <a:xfrm>
            <a:off x="1498570" y="2583854"/>
            <a:ext cx="743472" cy="15248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Wind-on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B6389356-A1DB-422F-B4EB-19BEA13F4E20}"/>
              </a:ext>
            </a:extLst>
          </p:cNvPr>
          <p:cNvSpPr/>
          <p:nvPr/>
        </p:nvSpPr>
        <p:spPr>
          <a:xfrm>
            <a:off x="2316624" y="2583854"/>
            <a:ext cx="743472" cy="15248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Wind-off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494379D-6015-4622-A471-2DAE879FBFDC}"/>
              </a:ext>
            </a:extLst>
          </p:cNvPr>
          <p:cNvSpPr txBox="1"/>
          <p:nvPr/>
        </p:nvSpPr>
        <p:spPr>
          <a:xfrm>
            <a:off x="624368" y="2326648"/>
            <a:ext cx="89529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dirty="0" err="1"/>
              <a:t>기술별</a:t>
            </a:r>
            <a:endParaRPr lang="ko-KR" altLang="en-US" sz="1050" dirty="0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A5E1AB0C-FBD3-4821-AF21-00D6978B66BC}"/>
              </a:ext>
            </a:extLst>
          </p:cNvPr>
          <p:cNvSpPr/>
          <p:nvPr/>
        </p:nvSpPr>
        <p:spPr>
          <a:xfrm>
            <a:off x="5728446" y="202962"/>
            <a:ext cx="1355464" cy="31466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/>
              <a:t>4.</a:t>
            </a:r>
            <a:r>
              <a:rPr lang="ko-KR" altLang="en-US" sz="1050" dirty="0"/>
              <a:t> 연평균 재생에너지 이용률</a:t>
            </a:r>
          </a:p>
        </p:txBody>
      </p:sp>
    </p:spTree>
    <p:extLst>
      <p:ext uri="{BB962C8B-B14F-4D97-AF65-F5344CB8AC3E}">
        <p14:creationId xmlns:p14="http://schemas.microsoft.com/office/powerpoint/2010/main" val="33911788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2C623425-8ABB-4197-955C-907C210676D2}"/>
              </a:ext>
            </a:extLst>
          </p:cNvPr>
          <p:cNvSpPr/>
          <p:nvPr/>
        </p:nvSpPr>
        <p:spPr>
          <a:xfrm>
            <a:off x="1153757" y="473336"/>
            <a:ext cx="1355464" cy="31466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0" dirty="0"/>
              <a:t>1. </a:t>
            </a:r>
            <a:r>
              <a:rPr lang="ko-KR" altLang="en-US" sz="1350" dirty="0"/>
              <a:t>발전설비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5D2C395D-4BCD-4C21-AD7C-2F91A0AD46DB}"/>
              </a:ext>
            </a:extLst>
          </p:cNvPr>
          <p:cNvSpPr/>
          <p:nvPr/>
        </p:nvSpPr>
        <p:spPr>
          <a:xfrm>
            <a:off x="2678653" y="473336"/>
            <a:ext cx="1355464" cy="31466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0" dirty="0"/>
              <a:t>2.</a:t>
            </a:r>
            <a:r>
              <a:rPr lang="ko-KR" altLang="en-US" sz="1350" dirty="0"/>
              <a:t>발전량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6C0B6196-2A73-45B7-8FB8-DDF21B496B4A}"/>
              </a:ext>
            </a:extLst>
          </p:cNvPr>
          <p:cNvSpPr/>
          <p:nvPr/>
        </p:nvSpPr>
        <p:spPr>
          <a:xfrm>
            <a:off x="4203549" y="473336"/>
            <a:ext cx="1355464" cy="31466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0" dirty="0"/>
              <a:t>3. </a:t>
            </a:r>
            <a:r>
              <a:rPr lang="ko-KR" altLang="en-US" sz="1350" dirty="0"/>
              <a:t>전력수요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94B33C20-02D8-4457-BA5C-98C8398A8B86}"/>
              </a:ext>
            </a:extLst>
          </p:cNvPr>
          <p:cNvSpPr/>
          <p:nvPr/>
        </p:nvSpPr>
        <p:spPr>
          <a:xfrm>
            <a:off x="7253342" y="473336"/>
            <a:ext cx="1355464" cy="31466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5. </a:t>
            </a:r>
            <a:r>
              <a:rPr lang="ko-KR" altLang="en-US" sz="900" dirty="0"/>
              <a:t>이산화탄소 배출량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7BCDE08-9FA1-4D06-B558-7DEAB345DB23}"/>
              </a:ext>
            </a:extLst>
          </p:cNvPr>
          <p:cNvSpPr/>
          <p:nvPr/>
        </p:nvSpPr>
        <p:spPr>
          <a:xfrm>
            <a:off x="524435" y="1067024"/>
            <a:ext cx="8407101" cy="454241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F96DC647-5080-46A4-9AEB-BAF2358B173F}"/>
              </a:ext>
            </a:extLst>
          </p:cNvPr>
          <p:cNvCxnSpPr/>
          <p:nvPr/>
        </p:nvCxnSpPr>
        <p:spPr>
          <a:xfrm>
            <a:off x="524435" y="2309532"/>
            <a:ext cx="840710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AFFC6091-22F6-476F-8B86-6363FD8689E3}"/>
              </a:ext>
            </a:extLst>
          </p:cNvPr>
          <p:cNvSpPr txBox="1"/>
          <p:nvPr/>
        </p:nvSpPr>
        <p:spPr>
          <a:xfrm>
            <a:off x="2100109" y="1944273"/>
            <a:ext cx="1112992" cy="2539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50" dirty="0"/>
              <a:t>탄소배출량 </a:t>
            </a:r>
            <a:r>
              <a:rPr lang="en-US" altLang="ko-KR" sz="1050" dirty="0"/>
              <a:t>GIS</a:t>
            </a:r>
            <a:endParaRPr lang="ko-KR" altLang="en-US" sz="105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D0F9C53-CCE6-44A8-A73A-D566A53C130A}"/>
              </a:ext>
            </a:extLst>
          </p:cNvPr>
          <p:cNvSpPr txBox="1"/>
          <p:nvPr/>
        </p:nvSpPr>
        <p:spPr>
          <a:xfrm>
            <a:off x="2886332" y="1182563"/>
            <a:ext cx="39316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5. </a:t>
            </a:r>
            <a:r>
              <a:rPr lang="ko-KR" altLang="en-US" dirty="0"/>
              <a:t>이산화탄소 배출량</a:t>
            </a:r>
            <a:endParaRPr lang="en-US" altLang="ko-KR" dirty="0"/>
          </a:p>
          <a:p>
            <a:pPr algn="ctr"/>
            <a:r>
              <a:rPr lang="en-US" altLang="ko-KR" sz="1200" dirty="0"/>
              <a:t>2023</a:t>
            </a:r>
            <a:r>
              <a:rPr lang="ko-KR" altLang="en-US" sz="1200" dirty="0"/>
              <a:t>년 전세계 총 탄소배출 규모</a:t>
            </a:r>
            <a:r>
              <a:rPr lang="en-US" altLang="ko-KR" sz="1200" dirty="0"/>
              <a:t>(Mt)</a:t>
            </a:r>
            <a:r>
              <a:rPr lang="ko-KR" altLang="en-US" sz="1200" dirty="0"/>
              <a:t> 및 연료원별 기여도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527FAD5-EEE1-40CF-8F25-AB3841AB3831}"/>
              </a:ext>
            </a:extLst>
          </p:cNvPr>
          <p:cNvSpPr txBox="1"/>
          <p:nvPr/>
        </p:nvSpPr>
        <p:spPr>
          <a:xfrm>
            <a:off x="680516" y="1938931"/>
            <a:ext cx="1263512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탄소배출량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56F193DD-5E49-4309-8461-E4677DAB0C4C}"/>
              </a:ext>
            </a:extLst>
          </p:cNvPr>
          <p:cNvSpPr/>
          <p:nvPr/>
        </p:nvSpPr>
        <p:spPr>
          <a:xfrm>
            <a:off x="680516" y="2583854"/>
            <a:ext cx="473241" cy="15248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2017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7A33B90A-B476-4628-8225-3E0102BA80F7}"/>
              </a:ext>
            </a:extLst>
          </p:cNvPr>
          <p:cNvSpPr/>
          <p:nvPr/>
        </p:nvSpPr>
        <p:spPr>
          <a:xfrm>
            <a:off x="1217926" y="2583854"/>
            <a:ext cx="473241" cy="15248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2018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CD5F2512-5A50-4358-9A5D-CCB6998AC996}"/>
              </a:ext>
            </a:extLst>
          </p:cNvPr>
          <p:cNvSpPr/>
          <p:nvPr/>
        </p:nvSpPr>
        <p:spPr>
          <a:xfrm>
            <a:off x="1755336" y="2583854"/>
            <a:ext cx="473241" cy="15248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2019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D55B95F7-B271-4498-B717-A6EC704F2E04}"/>
              </a:ext>
            </a:extLst>
          </p:cNvPr>
          <p:cNvSpPr/>
          <p:nvPr/>
        </p:nvSpPr>
        <p:spPr>
          <a:xfrm>
            <a:off x="2292746" y="2583854"/>
            <a:ext cx="473241" cy="15248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2020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7637B932-0B5A-423E-A618-418A59609527}"/>
              </a:ext>
            </a:extLst>
          </p:cNvPr>
          <p:cNvSpPr/>
          <p:nvPr/>
        </p:nvSpPr>
        <p:spPr>
          <a:xfrm>
            <a:off x="2830156" y="2583854"/>
            <a:ext cx="473241" cy="15248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2021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EC1735A1-FB56-4FCD-B448-75FFEBA3D77D}"/>
              </a:ext>
            </a:extLst>
          </p:cNvPr>
          <p:cNvSpPr/>
          <p:nvPr/>
        </p:nvSpPr>
        <p:spPr>
          <a:xfrm>
            <a:off x="3367566" y="2583854"/>
            <a:ext cx="473241" cy="15248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2022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F2F56303-A59D-489B-9F79-47417E983A8C}"/>
              </a:ext>
            </a:extLst>
          </p:cNvPr>
          <p:cNvSpPr/>
          <p:nvPr/>
        </p:nvSpPr>
        <p:spPr>
          <a:xfrm>
            <a:off x="3904976" y="2583854"/>
            <a:ext cx="473241" cy="15248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2023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F65E1B6-B51A-4FEA-82B7-D841D6A39DB8}"/>
              </a:ext>
            </a:extLst>
          </p:cNvPr>
          <p:cNvSpPr txBox="1"/>
          <p:nvPr/>
        </p:nvSpPr>
        <p:spPr>
          <a:xfrm>
            <a:off x="624368" y="2326648"/>
            <a:ext cx="89529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dirty="0"/>
              <a:t>기준 연도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ABFDD26-C717-4B2E-B0E1-540A54C1B296}"/>
              </a:ext>
            </a:extLst>
          </p:cNvPr>
          <p:cNvSpPr txBox="1"/>
          <p:nvPr/>
        </p:nvSpPr>
        <p:spPr>
          <a:xfrm>
            <a:off x="3348480" y="1944273"/>
            <a:ext cx="1112992" cy="2539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50" dirty="0"/>
              <a:t>배출 </a:t>
            </a:r>
            <a:r>
              <a:rPr lang="ko-KR" altLang="en-US" sz="1050" dirty="0" err="1"/>
              <a:t>증감량</a:t>
            </a:r>
            <a:endParaRPr lang="ko-KR" altLang="en-US" sz="105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3923473-5773-4BE8-88E2-91203489BF82}"/>
              </a:ext>
            </a:extLst>
          </p:cNvPr>
          <p:cNvSpPr txBox="1"/>
          <p:nvPr/>
        </p:nvSpPr>
        <p:spPr>
          <a:xfrm>
            <a:off x="4596851" y="1944273"/>
            <a:ext cx="1263512" cy="2539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50"/>
              <a:t>배출규모 점유율</a:t>
            </a:r>
            <a:endParaRPr lang="ko-KR" altLang="en-US" sz="1050" dirty="0"/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62177024-840D-4E5F-9F27-63230AA7D5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5075" y="2825443"/>
            <a:ext cx="4133850" cy="2630632"/>
          </a:xfrm>
          <a:prstGeom prst="rect">
            <a:avLst/>
          </a:prstGeom>
        </p:spPr>
      </p:pic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A8D36E92-3E59-4737-BEC6-426266CBC835}"/>
              </a:ext>
            </a:extLst>
          </p:cNvPr>
          <p:cNvSpPr/>
          <p:nvPr/>
        </p:nvSpPr>
        <p:spPr>
          <a:xfrm>
            <a:off x="5807340" y="2583854"/>
            <a:ext cx="473241" cy="15248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Coal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EB75DC31-7B95-4DC6-B984-0E15B4980A88}"/>
              </a:ext>
            </a:extLst>
          </p:cNvPr>
          <p:cNvSpPr/>
          <p:nvPr/>
        </p:nvSpPr>
        <p:spPr>
          <a:xfrm>
            <a:off x="6344750" y="2583854"/>
            <a:ext cx="473241" cy="15248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LNG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7B29BC3F-8107-49AC-8685-3BD8B1A5D8D2}"/>
              </a:ext>
            </a:extLst>
          </p:cNvPr>
          <p:cNvSpPr/>
          <p:nvPr/>
        </p:nvSpPr>
        <p:spPr>
          <a:xfrm>
            <a:off x="6882160" y="2583854"/>
            <a:ext cx="473241" cy="15248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Oil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071B9141-E0DE-4746-B0DA-8A62EFD11B52}"/>
              </a:ext>
            </a:extLst>
          </p:cNvPr>
          <p:cNvSpPr/>
          <p:nvPr/>
        </p:nvSpPr>
        <p:spPr>
          <a:xfrm>
            <a:off x="7419570" y="2583854"/>
            <a:ext cx="473241" cy="15248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Bio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F3557EC-9060-42AC-8CF4-2B20ED51E0DD}"/>
              </a:ext>
            </a:extLst>
          </p:cNvPr>
          <p:cNvSpPr txBox="1"/>
          <p:nvPr/>
        </p:nvSpPr>
        <p:spPr>
          <a:xfrm>
            <a:off x="5751192" y="2326648"/>
            <a:ext cx="89529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dirty="0"/>
              <a:t>기술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7F479BA7-DD4A-48BF-9587-B98A7128CEB0}"/>
              </a:ext>
            </a:extLst>
          </p:cNvPr>
          <p:cNvSpPr/>
          <p:nvPr/>
        </p:nvSpPr>
        <p:spPr>
          <a:xfrm>
            <a:off x="5728446" y="472593"/>
            <a:ext cx="1355464" cy="31466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/>
              <a:t>4.</a:t>
            </a:r>
            <a:r>
              <a:rPr lang="ko-KR" altLang="en-US" sz="1050" dirty="0"/>
              <a:t> 연평균 재생에너지 이용률</a:t>
            </a:r>
          </a:p>
        </p:txBody>
      </p:sp>
    </p:spTree>
    <p:extLst>
      <p:ext uri="{BB962C8B-B14F-4D97-AF65-F5344CB8AC3E}">
        <p14:creationId xmlns:p14="http://schemas.microsoft.com/office/powerpoint/2010/main" val="41562422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2C623425-8ABB-4197-955C-907C210676D2}"/>
              </a:ext>
            </a:extLst>
          </p:cNvPr>
          <p:cNvSpPr/>
          <p:nvPr/>
        </p:nvSpPr>
        <p:spPr>
          <a:xfrm>
            <a:off x="1153757" y="473336"/>
            <a:ext cx="1355464" cy="31466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0" dirty="0"/>
              <a:t>1. </a:t>
            </a:r>
            <a:r>
              <a:rPr lang="ko-KR" altLang="en-US" sz="1350" dirty="0"/>
              <a:t>발전설비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5D2C395D-4BCD-4C21-AD7C-2F91A0AD46DB}"/>
              </a:ext>
            </a:extLst>
          </p:cNvPr>
          <p:cNvSpPr/>
          <p:nvPr/>
        </p:nvSpPr>
        <p:spPr>
          <a:xfrm>
            <a:off x="2678653" y="473336"/>
            <a:ext cx="1355464" cy="31466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0" dirty="0"/>
              <a:t>2.</a:t>
            </a:r>
            <a:r>
              <a:rPr lang="ko-KR" altLang="en-US" sz="1350" dirty="0"/>
              <a:t>발전량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6C0B6196-2A73-45B7-8FB8-DDF21B496B4A}"/>
              </a:ext>
            </a:extLst>
          </p:cNvPr>
          <p:cNvSpPr/>
          <p:nvPr/>
        </p:nvSpPr>
        <p:spPr>
          <a:xfrm>
            <a:off x="4203549" y="473336"/>
            <a:ext cx="1355464" cy="31466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0" dirty="0"/>
              <a:t>3. </a:t>
            </a:r>
            <a:r>
              <a:rPr lang="ko-KR" altLang="en-US" sz="1350" dirty="0"/>
              <a:t>전력수요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94B33C20-02D8-4457-BA5C-98C8398A8B86}"/>
              </a:ext>
            </a:extLst>
          </p:cNvPr>
          <p:cNvSpPr/>
          <p:nvPr/>
        </p:nvSpPr>
        <p:spPr>
          <a:xfrm>
            <a:off x="7253342" y="473336"/>
            <a:ext cx="1355464" cy="31466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5. </a:t>
            </a:r>
            <a:r>
              <a:rPr lang="ko-KR" altLang="en-US" sz="900" dirty="0"/>
              <a:t>이산화탄소 배출량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7BCDE08-9FA1-4D06-B558-7DEAB345DB23}"/>
              </a:ext>
            </a:extLst>
          </p:cNvPr>
          <p:cNvSpPr/>
          <p:nvPr/>
        </p:nvSpPr>
        <p:spPr>
          <a:xfrm>
            <a:off x="524435" y="1067024"/>
            <a:ext cx="8407101" cy="454241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F96DC647-5080-46A4-9AEB-BAF2358B173F}"/>
              </a:ext>
            </a:extLst>
          </p:cNvPr>
          <p:cNvCxnSpPr/>
          <p:nvPr/>
        </p:nvCxnSpPr>
        <p:spPr>
          <a:xfrm>
            <a:off x="524435" y="2309532"/>
            <a:ext cx="840710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AFFC6091-22F6-476F-8B86-6363FD8689E3}"/>
              </a:ext>
            </a:extLst>
          </p:cNvPr>
          <p:cNvSpPr txBox="1"/>
          <p:nvPr/>
        </p:nvSpPr>
        <p:spPr>
          <a:xfrm>
            <a:off x="2100109" y="1944273"/>
            <a:ext cx="1112992" cy="25391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50" dirty="0"/>
              <a:t>탄소배출량 </a:t>
            </a:r>
            <a:r>
              <a:rPr lang="en-US" altLang="ko-KR" sz="1050" dirty="0"/>
              <a:t>GIS</a:t>
            </a:r>
            <a:endParaRPr lang="ko-KR" altLang="en-US" sz="105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D0F9C53-CCE6-44A8-A73A-D566A53C130A}"/>
              </a:ext>
            </a:extLst>
          </p:cNvPr>
          <p:cNvSpPr txBox="1"/>
          <p:nvPr/>
        </p:nvSpPr>
        <p:spPr>
          <a:xfrm>
            <a:off x="2886332" y="1182563"/>
            <a:ext cx="368330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5. </a:t>
            </a:r>
            <a:r>
              <a:rPr lang="ko-KR" altLang="en-US" dirty="0"/>
              <a:t>이산화탄소 배출량</a:t>
            </a:r>
            <a:endParaRPr lang="en-US" altLang="ko-KR" dirty="0"/>
          </a:p>
          <a:p>
            <a:pPr algn="ctr"/>
            <a:r>
              <a:rPr lang="ko-KR" altLang="en-US" sz="1200" dirty="0"/>
              <a:t>전세계 총 탄소배출 수준 단계구분도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527FAD5-EEE1-40CF-8F25-AB3841AB3831}"/>
              </a:ext>
            </a:extLst>
          </p:cNvPr>
          <p:cNvSpPr txBox="1"/>
          <p:nvPr/>
        </p:nvSpPr>
        <p:spPr>
          <a:xfrm>
            <a:off x="680516" y="1938931"/>
            <a:ext cx="1263512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탄소배출량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ABFDD26-C717-4B2E-B0E1-540A54C1B296}"/>
              </a:ext>
            </a:extLst>
          </p:cNvPr>
          <p:cNvSpPr txBox="1"/>
          <p:nvPr/>
        </p:nvSpPr>
        <p:spPr>
          <a:xfrm>
            <a:off x="3348480" y="1944273"/>
            <a:ext cx="1112992" cy="2539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50" dirty="0"/>
              <a:t>배출 </a:t>
            </a:r>
            <a:r>
              <a:rPr lang="ko-KR" altLang="en-US" sz="1050" dirty="0" err="1"/>
              <a:t>증감량</a:t>
            </a:r>
            <a:endParaRPr lang="ko-KR" altLang="en-US" sz="105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3923473-5773-4BE8-88E2-91203489BF82}"/>
              </a:ext>
            </a:extLst>
          </p:cNvPr>
          <p:cNvSpPr txBox="1"/>
          <p:nvPr/>
        </p:nvSpPr>
        <p:spPr>
          <a:xfrm>
            <a:off x="4596851" y="1944273"/>
            <a:ext cx="1263512" cy="2539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50"/>
              <a:t>배출규모 점유율</a:t>
            </a:r>
            <a:endParaRPr lang="ko-KR" altLang="en-US" sz="1050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3B8F37E5-DFFF-46DB-86CB-604E11C857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3351" y="2379603"/>
            <a:ext cx="4975860" cy="2940281"/>
          </a:xfrm>
          <a:prstGeom prst="rect">
            <a:avLst/>
          </a:prstGeom>
        </p:spPr>
      </p:pic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112D4ED8-5F1D-4680-A487-60FFCA876E2E}"/>
              </a:ext>
            </a:extLst>
          </p:cNvPr>
          <p:cNvSpPr/>
          <p:nvPr/>
        </p:nvSpPr>
        <p:spPr>
          <a:xfrm>
            <a:off x="5728446" y="479376"/>
            <a:ext cx="1355464" cy="31466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/>
              <a:t>4.</a:t>
            </a:r>
            <a:r>
              <a:rPr lang="ko-KR" altLang="en-US" sz="1050" dirty="0"/>
              <a:t> 연평균 재생에너지 이용률</a:t>
            </a:r>
          </a:p>
        </p:txBody>
      </p:sp>
    </p:spTree>
    <p:extLst>
      <p:ext uri="{BB962C8B-B14F-4D97-AF65-F5344CB8AC3E}">
        <p14:creationId xmlns:p14="http://schemas.microsoft.com/office/powerpoint/2010/main" val="32957594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2C623425-8ABB-4197-955C-907C210676D2}"/>
              </a:ext>
            </a:extLst>
          </p:cNvPr>
          <p:cNvSpPr/>
          <p:nvPr/>
        </p:nvSpPr>
        <p:spPr>
          <a:xfrm>
            <a:off x="1153757" y="473336"/>
            <a:ext cx="1355464" cy="31466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0" dirty="0"/>
              <a:t>1. </a:t>
            </a:r>
            <a:r>
              <a:rPr lang="ko-KR" altLang="en-US" sz="1350" dirty="0"/>
              <a:t>발전설비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5D2C395D-4BCD-4C21-AD7C-2F91A0AD46DB}"/>
              </a:ext>
            </a:extLst>
          </p:cNvPr>
          <p:cNvSpPr/>
          <p:nvPr/>
        </p:nvSpPr>
        <p:spPr>
          <a:xfrm>
            <a:off x="2678653" y="473336"/>
            <a:ext cx="1355464" cy="31466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0" dirty="0"/>
              <a:t>2.</a:t>
            </a:r>
            <a:r>
              <a:rPr lang="ko-KR" altLang="en-US" sz="1350" dirty="0"/>
              <a:t>발전량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6C0B6196-2A73-45B7-8FB8-DDF21B496B4A}"/>
              </a:ext>
            </a:extLst>
          </p:cNvPr>
          <p:cNvSpPr/>
          <p:nvPr/>
        </p:nvSpPr>
        <p:spPr>
          <a:xfrm>
            <a:off x="4203549" y="473336"/>
            <a:ext cx="1355464" cy="31466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0" dirty="0"/>
              <a:t>3. </a:t>
            </a:r>
            <a:r>
              <a:rPr lang="ko-KR" altLang="en-US" sz="1350" dirty="0"/>
              <a:t>전력수요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94B33C20-02D8-4457-BA5C-98C8398A8B86}"/>
              </a:ext>
            </a:extLst>
          </p:cNvPr>
          <p:cNvSpPr/>
          <p:nvPr/>
        </p:nvSpPr>
        <p:spPr>
          <a:xfrm>
            <a:off x="7253342" y="473336"/>
            <a:ext cx="1355464" cy="31466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5. </a:t>
            </a:r>
            <a:r>
              <a:rPr lang="ko-KR" altLang="en-US" sz="900" dirty="0"/>
              <a:t>이산화탄소 배출량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7BCDE08-9FA1-4D06-B558-7DEAB345DB23}"/>
              </a:ext>
            </a:extLst>
          </p:cNvPr>
          <p:cNvSpPr/>
          <p:nvPr/>
        </p:nvSpPr>
        <p:spPr>
          <a:xfrm>
            <a:off x="524435" y="1067024"/>
            <a:ext cx="8407101" cy="454241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F96DC647-5080-46A4-9AEB-BAF2358B173F}"/>
              </a:ext>
            </a:extLst>
          </p:cNvPr>
          <p:cNvCxnSpPr/>
          <p:nvPr/>
        </p:nvCxnSpPr>
        <p:spPr>
          <a:xfrm>
            <a:off x="524435" y="2309532"/>
            <a:ext cx="840710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AFFC6091-22F6-476F-8B86-6363FD8689E3}"/>
              </a:ext>
            </a:extLst>
          </p:cNvPr>
          <p:cNvSpPr txBox="1"/>
          <p:nvPr/>
        </p:nvSpPr>
        <p:spPr>
          <a:xfrm>
            <a:off x="2100109" y="1944273"/>
            <a:ext cx="1112992" cy="2539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50" dirty="0"/>
              <a:t>탄소배출량 </a:t>
            </a:r>
            <a:r>
              <a:rPr lang="en-US" altLang="ko-KR" sz="1050" dirty="0"/>
              <a:t>GIS</a:t>
            </a:r>
            <a:endParaRPr lang="ko-KR" altLang="en-US" sz="105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D0F9C53-CCE6-44A8-A73A-D566A53C130A}"/>
              </a:ext>
            </a:extLst>
          </p:cNvPr>
          <p:cNvSpPr txBox="1"/>
          <p:nvPr/>
        </p:nvSpPr>
        <p:spPr>
          <a:xfrm>
            <a:off x="2182977" y="1182563"/>
            <a:ext cx="539660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5. </a:t>
            </a:r>
            <a:r>
              <a:rPr lang="ko-KR" altLang="en-US" dirty="0"/>
              <a:t>이산화탄소 배출량</a:t>
            </a:r>
            <a:endParaRPr lang="en-US" altLang="ko-KR" dirty="0"/>
          </a:p>
          <a:p>
            <a:pPr algn="ctr"/>
            <a:r>
              <a:rPr lang="en-US" altLang="ko-KR" sz="1200" dirty="0"/>
              <a:t>2017</a:t>
            </a:r>
            <a:r>
              <a:rPr lang="ko-KR" altLang="en-US" sz="1200" dirty="0"/>
              <a:t>년 대비 </a:t>
            </a:r>
            <a:r>
              <a:rPr lang="en-US" altLang="ko-KR" sz="1200" dirty="0"/>
              <a:t>2023</a:t>
            </a:r>
            <a:r>
              <a:rPr lang="ko-KR" altLang="en-US" sz="1200" dirty="0"/>
              <a:t>년 국가</a:t>
            </a:r>
            <a:r>
              <a:rPr lang="en-US" altLang="ko-KR" sz="1200" dirty="0"/>
              <a:t>(</a:t>
            </a:r>
            <a:r>
              <a:rPr lang="ko-KR" altLang="en-US" sz="1200" dirty="0"/>
              <a:t>그룹</a:t>
            </a:r>
            <a:r>
              <a:rPr lang="en-US" altLang="ko-KR" sz="1200" dirty="0"/>
              <a:t>)</a:t>
            </a:r>
            <a:r>
              <a:rPr lang="ko-KR" altLang="en-US" sz="1200" dirty="0"/>
              <a:t>별 이산화탄소</a:t>
            </a:r>
            <a:r>
              <a:rPr lang="en-US" altLang="ko-KR" sz="1200" dirty="0"/>
              <a:t>(CO2)</a:t>
            </a:r>
            <a:r>
              <a:rPr lang="ko-KR" altLang="en-US" sz="1200" dirty="0"/>
              <a:t>배출 연료원별 양방향 증감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527FAD5-EEE1-40CF-8F25-AB3841AB3831}"/>
              </a:ext>
            </a:extLst>
          </p:cNvPr>
          <p:cNvSpPr txBox="1"/>
          <p:nvPr/>
        </p:nvSpPr>
        <p:spPr>
          <a:xfrm>
            <a:off x="680516" y="1938931"/>
            <a:ext cx="1263512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탄소배출량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ABFDD26-C717-4B2E-B0E1-540A54C1B296}"/>
              </a:ext>
            </a:extLst>
          </p:cNvPr>
          <p:cNvSpPr txBox="1"/>
          <p:nvPr/>
        </p:nvSpPr>
        <p:spPr>
          <a:xfrm>
            <a:off x="3348480" y="1944273"/>
            <a:ext cx="1112992" cy="25391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50" dirty="0"/>
              <a:t>배출 </a:t>
            </a:r>
            <a:r>
              <a:rPr lang="ko-KR" altLang="en-US" sz="1050" dirty="0" err="1"/>
              <a:t>증감량</a:t>
            </a:r>
            <a:endParaRPr lang="ko-KR" altLang="en-US" sz="105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3923473-5773-4BE8-88E2-91203489BF82}"/>
              </a:ext>
            </a:extLst>
          </p:cNvPr>
          <p:cNvSpPr txBox="1"/>
          <p:nvPr/>
        </p:nvSpPr>
        <p:spPr>
          <a:xfrm>
            <a:off x="4596851" y="1944273"/>
            <a:ext cx="1263512" cy="2539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50"/>
              <a:t>배출규모 점유율</a:t>
            </a:r>
            <a:endParaRPr lang="ko-KR" altLang="en-US" sz="1050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6075EAFC-BCC9-4A26-939F-76E0972638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4695" y="2477216"/>
            <a:ext cx="4424312" cy="2815471"/>
          </a:xfrm>
          <a:prstGeom prst="rect">
            <a:avLst/>
          </a:prstGeom>
        </p:spPr>
      </p:pic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C97D532D-95AA-49E2-95A1-B3CFE5F803D0}"/>
              </a:ext>
            </a:extLst>
          </p:cNvPr>
          <p:cNvSpPr/>
          <p:nvPr/>
        </p:nvSpPr>
        <p:spPr>
          <a:xfrm>
            <a:off x="5728446" y="479376"/>
            <a:ext cx="1355464" cy="31466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/>
              <a:t>4.</a:t>
            </a:r>
            <a:r>
              <a:rPr lang="ko-KR" altLang="en-US" sz="1050" dirty="0"/>
              <a:t> 연평균 재생에너지 이용률</a:t>
            </a:r>
          </a:p>
        </p:txBody>
      </p:sp>
    </p:spTree>
    <p:extLst>
      <p:ext uri="{BB962C8B-B14F-4D97-AF65-F5344CB8AC3E}">
        <p14:creationId xmlns:p14="http://schemas.microsoft.com/office/powerpoint/2010/main" val="8227907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2C623425-8ABB-4197-955C-907C210676D2}"/>
              </a:ext>
            </a:extLst>
          </p:cNvPr>
          <p:cNvSpPr/>
          <p:nvPr/>
        </p:nvSpPr>
        <p:spPr>
          <a:xfrm>
            <a:off x="1153757" y="473336"/>
            <a:ext cx="1355464" cy="31466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0" dirty="0"/>
              <a:t>1. </a:t>
            </a:r>
            <a:r>
              <a:rPr lang="ko-KR" altLang="en-US" sz="1350" dirty="0"/>
              <a:t>발전설비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5D2C395D-4BCD-4C21-AD7C-2F91A0AD46DB}"/>
              </a:ext>
            </a:extLst>
          </p:cNvPr>
          <p:cNvSpPr/>
          <p:nvPr/>
        </p:nvSpPr>
        <p:spPr>
          <a:xfrm>
            <a:off x="2678653" y="473336"/>
            <a:ext cx="1355464" cy="31466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0" dirty="0"/>
              <a:t>2.</a:t>
            </a:r>
            <a:r>
              <a:rPr lang="ko-KR" altLang="en-US" sz="1350" dirty="0"/>
              <a:t>발전량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6C0B6196-2A73-45B7-8FB8-DDF21B496B4A}"/>
              </a:ext>
            </a:extLst>
          </p:cNvPr>
          <p:cNvSpPr/>
          <p:nvPr/>
        </p:nvSpPr>
        <p:spPr>
          <a:xfrm>
            <a:off x="4203549" y="473336"/>
            <a:ext cx="1355464" cy="31466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0" dirty="0"/>
              <a:t>3. </a:t>
            </a:r>
            <a:r>
              <a:rPr lang="ko-KR" altLang="en-US" sz="1350" dirty="0"/>
              <a:t>전력수요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94B33C20-02D8-4457-BA5C-98C8398A8B86}"/>
              </a:ext>
            </a:extLst>
          </p:cNvPr>
          <p:cNvSpPr/>
          <p:nvPr/>
        </p:nvSpPr>
        <p:spPr>
          <a:xfrm>
            <a:off x="7253342" y="473336"/>
            <a:ext cx="1355464" cy="31466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5. </a:t>
            </a:r>
            <a:r>
              <a:rPr lang="ko-KR" altLang="en-US" sz="900" dirty="0"/>
              <a:t>이산화탄소 배출량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7BCDE08-9FA1-4D06-B558-7DEAB345DB23}"/>
              </a:ext>
            </a:extLst>
          </p:cNvPr>
          <p:cNvSpPr/>
          <p:nvPr/>
        </p:nvSpPr>
        <p:spPr>
          <a:xfrm>
            <a:off x="524435" y="1067024"/>
            <a:ext cx="8407101" cy="454241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F96DC647-5080-46A4-9AEB-BAF2358B173F}"/>
              </a:ext>
            </a:extLst>
          </p:cNvPr>
          <p:cNvCxnSpPr/>
          <p:nvPr/>
        </p:nvCxnSpPr>
        <p:spPr>
          <a:xfrm>
            <a:off x="524435" y="2309532"/>
            <a:ext cx="840710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AFFC6091-22F6-476F-8B86-6363FD8689E3}"/>
              </a:ext>
            </a:extLst>
          </p:cNvPr>
          <p:cNvSpPr txBox="1"/>
          <p:nvPr/>
        </p:nvSpPr>
        <p:spPr>
          <a:xfrm>
            <a:off x="2100109" y="1944273"/>
            <a:ext cx="1112992" cy="2539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50" dirty="0"/>
              <a:t>탄소배출량 </a:t>
            </a:r>
            <a:r>
              <a:rPr lang="en-US" altLang="ko-KR" sz="1050" dirty="0"/>
              <a:t>GIS</a:t>
            </a:r>
            <a:endParaRPr lang="ko-KR" altLang="en-US" sz="105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D0F9C53-CCE6-44A8-A73A-D566A53C130A}"/>
              </a:ext>
            </a:extLst>
          </p:cNvPr>
          <p:cNvSpPr txBox="1"/>
          <p:nvPr/>
        </p:nvSpPr>
        <p:spPr>
          <a:xfrm>
            <a:off x="2886332" y="1182563"/>
            <a:ext cx="368330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5. </a:t>
            </a:r>
            <a:r>
              <a:rPr lang="ko-KR" altLang="en-US" dirty="0"/>
              <a:t>이산화탄소 배출량</a:t>
            </a:r>
            <a:endParaRPr lang="en-US" altLang="ko-KR" dirty="0"/>
          </a:p>
          <a:p>
            <a:pPr algn="ctr"/>
            <a:r>
              <a:rPr lang="en-US" altLang="ko-KR" sz="1200" dirty="0"/>
              <a:t>2023</a:t>
            </a:r>
            <a:r>
              <a:rPr lang="ko-KR" altLang="en-US" sz="1200" dirty="0"/>
              <a:t>년 전세계 총 탄소배출 규모</a:t>
            </a:r>
            <a:r>
              <a:rPr lang="en-US" altLang="ko-KR" sz="1200" dirty="0"/>
              <a:t>(Mt)</a:t>
            </a:r>
            <a:r>
              <a:rPr lang="ko-KR" altLang="en-US" sz="1200" dirty="0"/>
              <a:t> 및 비율</a:t>
            </a:r>
            <a:r>
              <a:rPr lang="en-US" altLang="ko-KR" sz="1200" dirty="0"/>
              <a:t>(%)</a:t>
            </a:r>
            <a:endParaRPr lang="ko-KR" altLang="en-US" sz="12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527FAD5-EEE1-40CF-8F25-AB3841AB3831}"/>
              </a:ext>
            </a:extLst>
          </p:cNvPr>
          <p:cNvSpPr txBox="1"/>
          <p:nvPr/>
        </p:nvSpPr>
        <p:spPr>
          <a:xfrm>
            <a:off x="680516" y="1938931"/>
            <a:ext cx="1263512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탄소배출량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56F193DD-5E49-4309-8461-E4677DAB0C4C}"/>
              </a:ext>
            </a:extLst>
          </p:cNvPr>
          <p:cNvSpPr/>
          <p:nvPr/>
        </p:nvSpPr>
        <p:spPr>
          <a:xfrm>
            <a:off x="680516" y="2583854"/>
            <a:ext cx="473241" cy="15248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2017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7A33B90A-B476-4628-8225-3E0102BA80F7}"/>
              </a:ext>
            </a:extLst>
          </p:cNvPr>
          <p:cNvSpPr/>
          <p:nvPr/>
        </p:nvSpPr>
        <p:spPr>
          <a:xfrm>
            <a:off x="1217926" y="2583854"/>
            <a:ext cx="473241" cy="15248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2018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CD5F2512-5A50-4358-9A5D-CCB6998AC996}"/>
              </a:ext>
            </a:extLst>
          </p:cNvPr>
          <p:cNvSpPr/>
          <p:nvPr/>
        </p:nvSpPr>
        <p:spPr>
          <a:xfrm>
            <a:off x="1755336" y="2583854"/>
            <a:ext cx="473241" cy="15248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2019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D55B95F7-B271-4498-B717-A6EC704F2E04}"/>
              </a:ext>
            </a:extLst>
          </p:cNvPr>
          <p:cNvSpPr/>
          <p:nvPr/>
        </p:nvSpPr>
        <p:spPr>
          <a:xfrm>
            <a:off x="2292746" y="2583854"/>
            <a:ext cx="473241" cy="15248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2020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7637B932-0B5A-423E-A618-418A59609527}"/>
              </a:ext>
            </a:extLst>
          </p:cNvPr>
          <p:cNvSpPr/>
          <p:nvPr/>
        </p:nvSpPr>
        <p:spPr>
          <a:xfrm>
            <a:off x="2830156" y="2583854"/>
            <a:ext cx="473241" cy="15248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2021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EC1735A1-FB56-4FCD-B448-75FFEBA3D77D}"/>
              </a:ext>
            </a:extLst>
          </p:cNvPr>
          <p:cNvSpPr/>
          <p:nvPr/>
        </p:nvSpPr>
        <p:spPr>
          <a:xfrm>
            <a:off x="3367566" y="2583854"/>
            <a:ext cx="473241" cy="15248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2022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F2F56303-A59D-489B-9F79-47417E983A8C}"/>
              </a:ext>
            </a:extLst>
          </p:cNvPr>
          <p:cNvSpPr/>
          <p:nvPr/>
        </p:nvSpPr>
        <p:spPr>
          <a:xfrm>
            <a:off x="3904976" y="2583854"/>
            <a:ext cx="473241" cy="15248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2023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F65E1B6-B51A-4FEA-82B7-D841D6A39DB8}"/>
              </a:ext>
            </a:extLst>
          </p:cNvPr>
          <p:cNvSpPr txBox="1"/>
          <p:nvPr/>
        </p:nvSpPr>
        <p:spPr>
          <a:xfrm>
            <a:off x="624368" y="2326648"/>
            <a:ext cx="89529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dirty="0"/>
              <a:t>기준 연도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ABFDD26-C717-4B2E-B0E1-540A54C1B296}"/>
              </a:ext>
            </a:extLst>
          </p:cNvPr>
          <p:cNvSpPr txBox="1"/>
          <p:nvPr/>
        </p:nvSpPr>
        <p:spPr>
          <a:xfrm>
            <a:off x="3348480" y="1944273"/>
            <a:ext cx="1112992" cy="2539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50" dirty="0"/>
              <a:t>배출 </a:t>
            </a:r>
            <a:r>
              <a:rPr lang="ko-KR" altLang="en-US" sz="1050" dirty="0" err="1"/>
              <a:t>증감량</a:t>
            </a:r>
            <a:endParaRPr lang="ko-KR" altLang="en-US" sz="105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3923473-5773-4BE8-88E2-91203489BF82}"/>
              </a:ext>
            </a:extLst>
          </p:cNvPr>
          <p:cNvSpPr txBox="1"/>
          <p:nvPr/>
        </p:nvSpPr>
        <p:spPr>
          <a:xfrm>
            <a:off x="4596851" y="1944273"/>
            <a:ext cx="1263512" cy="25391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50"/>
              <a:t>배출규모 점유율</a:t>
            </a:r>
            <a:endParaRPr lang="ko-KR" altLang="en-US" sz="105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12122FB-B0DC-4E8F-AF8A-B5B563A9FA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9575" y="2781841"/>
            <a:ext cx="3703794" cy="2777846"/>
          </a:xfrm>
          <a:prstGeom prst="rect">
            <a:avLst/>
          </a:prstGeom>
        </p:spPr>
      </p:pic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961E67BE-5F5C-41C4-AE11-052887FDB763}"/>
              </a:ext>
            </a:extLst>
          </p:cNvPr>
          <p:cNvSpPr/>
          <p:nvPr/>
        </p:nvSpPr>
        <p:spPr>
          <a:xfrm>
            <a:off x="5728446" y="479376"/>
            <a:ext cx="1355464" cy="31466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/>
              <a:t>4.</a:t>
            </a:r>
            <a:r>
              <a:rPr lang="ko-KR" altLang="en-US" sz="1050" dirty="0"/>
              <a:t> 연평균 재생에너지 이용률</a:t>
            </a:r>
          </a:p>
        </p:txBody>
      </p:sp>
    </p:spTree>
    <p:extLst>
      <p:ext uri="{BB962C8B-B14F-4D97-AF65-F5344CB8AC3E}">
        <p14:creationId xmlns:p14="http://schemas.microsoft.com/office/powerpoint/2010/main" val="27271013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391</TotalTime>
  <Words>455</Words>
  <Application>Microsoft Office PowerPoint</Application>
  <PresentationFormat>화면 슬라이드 쇼(4:3)</PresentationFormat>
  <Paragraphs>168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KEI</dc:creator>
  <cp:lastModifiedBy>KEI</cp:lastModifiedBy>
  <cp:revision>21</cp:revision>
  <dcterms:created xsi:type="dcterms:W3CDTF">2026-07-10T08:01:17Z</dcterms:created>
  <dcterms:modified xsi:type="dcterms:W3CDTF">2026-07-13T05:34:30Z</dcterms:modified>
</cp:coreProperties>
</file>