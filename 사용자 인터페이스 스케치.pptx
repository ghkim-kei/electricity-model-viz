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2" r:id="rId7"/>
    <p:sldId id="261" r:id="rId8"/>
    <p:sldId id="269" r:id="rId9"/>
    <p:sldId id="270" r:id="rId10"/>
    <p:sldId id="272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발전설비" id="{C9788198-83EF-4941-9118-0E3FA2955B23}">
          <p14:sldIdLst>
            <p14:sldId id="256"/>
          </p14:sldIdLst>
        </p14:section>
        <p14:section name="2.발전량" id="{07E38AEF-69D7-4967-B95F-E8FA4FE744DE}">
          <p14:sldIdLst>
            <p14:sldId id="257"/>
            <p14:sldId id="259"/>
          </p14:sldIdLst>
        </p14:section>
        <p14:section name="3.전력수요" id="{CBC22EFC-A664-41BE-BC45-D78C70D12D38}">
          <p14:sldIdLst>
            <p14:sldId id="258"/>
            <p14:sldId id="260"/>
          </p14:sldIdLst>
        </p14:section>
        <p14:section name="4.친환경에너지 이용률" id="{58613D7B-7E88-4A76-9EE7-40B5D84C14E0}">
          <p14:sldIdLst>
            <p14:sldId id="262"/>
            <p14:sldId id="261"/>
          </p14:sldIdLst>
        </p14:section>
        <p14:section name="5. 이산화탄소배출량" id="{EB4C9A3B-8EB8-4D77-A185-2580703563BD}">
          <p14:sldIdLst>
            <p14:sldId id="269"/>
            <p14:sldId id="270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7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7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086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640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163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4993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416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995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43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008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8048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299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0603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F91D5-A054-42E2-874D-939B01A751E1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2507CA-D843-4D9A-9AB6-04A97CB05A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854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656006"/>
            <a:ext cx="8407101" cy="39534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028C48C7-F09A-4FA7-A8EB-85DB09C0A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838" y="2963059"/>
            <a:ext cx="3966886" cy="2578476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3D2F57F-1164-431F-ADA6-50C23E8BADBD}"/>
              </a:ext>
            </a:extLst>
          </p:cNvPr>
          <p:cNvSpPr/>
          <p:nvPr/>
        </p:nvSpPr>
        <p:spPr>
          <a:xfrm>
            <a:off x="68051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7325575-25A6-48AC-85FC-261864E51AAE}"/>
              </a:ext>
            </a:extLst>
          </p:cNvPr>
          <p:cNvSpPr/>
          <p:nvPr/>
        </p:nvSpPr>
        <p:spPr>
          <a:xfrm>
            <a:off x="121792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AC0EB98-02E2-4556-8E67-9CC134630292}"/>
              </a:ext>
            </a:extLst>
          </p:cNvPr>
          <p:cNvSpPr/>
          <p:nvPr/>
        </p:nvSpPr>
        <p:spPr>
          <a:xfrm>
            <a:off x="175533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2019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0967A8C-E97B-4ED7-B0B7-BBE030FB03F9}"/>
              </a:ext>
            </a:extLst>
          </p:cNvPr>
          <p:cNvSpPr/>
          <p:nvPr/>
        </p:nvSpPr>
        <p:spPr>
          <a:xfrm>
            <a:off x="229274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2020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68EB983-249C-4E99-8D9E-F2674337EC77}"/>
              </a:ext>
            </a:extLst>
          </p:cNvPr>
          <p:cNvSpPr/>
          <p:nvPr/>
        </p:nvSpPr>
        <p:spPr>
          <a:xfrm>
            <a:off x="283015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E14B11F-349F-40D1-BC4D-5D14FA17D653}"/>
              </a:ext>
            </a:extLst>
          </p:cNvPr>
          <p:cNvSpPr/>
          <p:nvPr/>
        </p:nvSpPr>
        <p:spPr>
          <a:xfrm>
            <a:off x="336756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ACFBA6A-3BA8-419B-9E81-C8F8581EE21C}"/>
              </a:ext>
            </a:extLst>
          </p:cNvPr>
          <p:cNvSpPr/>
          <p:nvPr/>
        </p:nvSpPr>
        <p:spPr>
          <a:xfrm>
            <a:off x="390497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D076E9-E3E0-4F8A-A1AD-645B3CDFE5E6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기준 연도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D6B05C5-CC2D-41BF-9061-FB7DA41C59C8}"/>
              </a:ext>
            </a:extLst>
          </p:cNvPr>
          <p:cNvSpPr/>
          <p:nvPr/>
        </p:nvSpPr>
        <p:spPr>
          <a:xfrm>
            <a:off x="469104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Coal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F9A9C3-2CEC-4C90-8F3C-C8B61EFB9561}"/>
              </a:ext>
            </a:extLst>
          </p:cNvPr>
          <p:cNvSpPr/>
          <p:nvPr/>
        </p:nvSpPr>
        <p:spPr>
          <a:xfrm>
            <a:off x="522845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LNG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7022B22E-9067-4718-A1FC-F448EDBAED7E}"/>
              </a:ext>
            </a:extLst>
          </p:cNvPr>
          <p:cNvSpPr/>
          <p:nvPr/>
        </p:nvSpPr>
        <p:spPr>
          <a:xfrm>
            <a:off x="576586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Nuclear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EABA22A-52E3-4359-A2F0-C3B4ED67F7B8}"/>
              </a:ext>
            </a:extLst>
          </p:cNvPr>
          <p:cNvSpPr/>
          <p:nvPr/>
        </p:nvSpPr>
        <p:spPr>
          <a:xfrm>
            <a:off x="630327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Bio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51FAB5-03B0-4BEA-B0E8-9C7BF3FEA83D}"/>
              </a:ext>
            </a:extLst>
          </p:cNvPr>
          <p:cNvSpPr txBox="1"/>
          <p:nvPr/>
        </p:nvSpPr>
        <p:spPr>
          <a:xfrm>
            <a:off x="4634894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기술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AF01C3-D450-4E73-A9B3-47CCC7B802AE}"/>
              </a:ext>
            </a:extLst>
          </p:cNvPr>
          <p:cNvSpPr txBox="1"/>
          <p:nvPr/>
        </p:nvSpPr>
        <p:spPr>
          <a:xfrm>
            <a:off x="3121357" y="1671220"/>
            <a:ext cx="3519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AutoNum type="arabicPeriod"/>
            </a:pPr>
            <a:r>
              <a:rPr lang="ko-KR" altLang="en-US" dirty="0"/>
              <a:t>발전설비</a:t>
            </a:r>
            <a:endParaRPr lang="en-US" altLang="ko-KR" dirty="0"/>
          </a:p>
          <a:p>
            <a:pPr algn="ctr"/>
            <a:r>
              <a:rPr lang="ko-KR" altLang="en-US" sz="1200" dirty="0" err="1"/>
              <a:t>권역별</a:t>
            </a:r>
            <a:r>
              <a:rPr lang="ko-KR" altLang="en-US" sz="1200" dirty="0"/>
              <a:t> 발전설비 </a:t>
            </a:r>
            <a:r>
              <a:rPr lang="ko-KR" altLang="en-US" sz="1200" dirty="0" err="1"/>
              <a:t>기술별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총용량</a:t>
            </a:r>
            <a:r>
              <a:rPr lang="ko-KR" altLang="en-US" sz="1200" dirty="0"/>
              <a:t> 비교</a:t>
            </a:r>
            <a:r>
              <a:rPr lang="en-US" altLang="ko-KR" sz="1200" dirty="0"/>
              <a:t>(</a:t>
            </a:r>
            <a:r>
              <a:rPr lang="ko-KR" altLang="en-US" sz="1200" dirty="0"/>
              <a:t>단위</a:t>
            </a:r>
            <a:r>
              <a:rPr lang="en-US" altLang="ko-KR" sz="1200" dirty="0"/>
              <a:t>: GW)</a:t>
            </a:r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5BBBA98-EC99-4B91-88BD-9FFD04A913B0}"/>
              </a:ext>
            </a:extLst>
          </p:cNvPr>
          <p:cNvSpPr/>
          <p:nvPr/>
        </p:nvSpPr>
        <p:spPr>
          <a:xfrm>
            <a:off x="5728446" y="109994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</p:spTree>
    <p:extLst>
      <p:ext uri="{BB962C8B-B14F-4D97-AF65-F5344CB8AC3E}">
        <p14:creationId xmlns:p14="http://schemas.microsoft.com/office/powerpoint/2010/main" val="3894740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656006"/>
            <a:ext cx="8407101" cy="39534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3D2F57F-1164-431F-ADA6-50C23E8BADBD}"/>
              </a:ext>
            </a:extLst>
          </p:cNvPr>
          <p:cNvSpPr/>
          <p:nvPr/>
        </p:nvSpPr>
        <p:spPr>
          <a:xfrm>
            <a:off x="68051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7325575-25A6-48AC-85FC-261864E51AAE}"/>
              </a:ext>
            </a:extLst>
          </p:cNvPr>
          <p:cNvSpPr/>
          <p:nvPr/>
        </p:nvSpPr>
        <p:spPr>
          <a:xfrm>
            <a:off x="121792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AC0EB98-02E2-4556-8E67-9CC134630292}"/>
              </a:ext>
            </a:extLst>
          </p:cNvPr>
          <p:cNvSpPr/>
          <p:nvPr/>
        </p:nvSpPr>
        <p:spPr>
          <a:xfrm>
            <a:off x="175533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2019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0967A8C-E97B-4ED7-B0B7-BBE030FB03F9}"/>
              </a:ext>
            </a:extLst>
          </p:cNvPr>
          <p:cNvSpPr/>
          <p:nvPr/>
        </p:nvSpPr>
        <p:spPr>
          <a:xfrm>
            <a:off x="229274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2020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68EB983-249C-4E99-8D9E-F2674337EC77}"/>
              </a:ext>
            </a:extLst>
          </p:cNvPr>
          <p:cNvSpPr/>
          <p:nvPr/>
        </p:nvSpPr>
        <p:spPr>
          <a:xfrm>
            <a:off x="283015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E14B11F-349F-40D1-BC4D-5D14FA17D653}"/>
              </a:ext>
            </a:extLst>
          </p:cNvPr>
          <p:cNvSpPr/>
          <p:nvPr/>
        </p:nvSpPr>
        <p:spPr>
          <a:xfrm>
            <a:off x="336756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ACFBA6A-3BA8-419B-9E81-C8F8581EE21C}"/>
              </a:ext>
            </a:extLst>
          </p:cNvPr>
          <p:cNvSpPr/>
          <p:nvPr/>
        </p:nvSpPr>
        <p:spPr>
          <a:xfrm>
            <a:off x="390497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D076E9-E3E0-4F8A-A1AD-645B3CDFE5E6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기준 연도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D6B05C5-CC2D-41BF-9061-FB7DA41C59C8}"/>
              </a:ext>
            </a:extLst>
          </p:cNvPr>
          <p:cNvSpPr/>
          <p:nvPr/>
        </p:nvSpPr>
        <p:spPr>
          <a:xfrm>
            <a:off x="469104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Coal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F9A9C3-2CEC-4C90-8F3C-C8B61EFB9561}"/>
              </a:ext>
            </a:extLst>
          </p:cNvPr>
          <p:cNvSpPr/>
          <p:nvPr/>
        </p:nvSpPr>
        <p:spPr>
          <a:xfrm>
            <a:off x="522845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LNG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7022B22E-9067-4718-A1FC-F448EDBAED7E}"/>
              </a:ext>
            </a:extLst>
          </p:cNvPr>
          <p:cNvSpPr/>
          <p:nvPr/>
        </p:nvSpPr>
        <p:spPr>
          <a:xfrm>
            <a:off x="576586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Nuclear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EABA22A-52E3-4359-A2F0-C3B4ED67F7B8}"/>
              </a:ext>
            </a:extLst>
          </p:cNvPr>
          <p:cNvSpPr/>
          <p:nvPr/>
        </p:nvSpPr>
        <p:spPr>
          <a:xfrm>
            <a:off x="6303272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Bio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51FAB5-03B0-4BEA-B0E8-9C7BF3FEA83D}"/>
              </a:ext>
            </a:extLst>
          </p:cNvPr>
          <p:cNvSpPr txBox="1"/>
          <p:nvPr/>
        </p:nvSpPr>
        <p:spPr>
          <a:xfrm>
            <a:off x="4634894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기술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624368" y="1934004"/>
            <a:ext cx="895291" cy="3077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발전량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3121357" y="1671220"/>
            <a:ext cx="3519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2. </a:t>
            </a:r>
            <a:r>
              <a:rPr lang="ko-KR" altLang="en-US" dirty="0"/>
              <a:t>발전량</a:t>
            </a:r>
            <a:endParaRPr lang="en-US" altLang="ko-KR" dirty="0"/>
          </a:p>
          <a:p>
            <a:pPr algn="ctr"/>
            <a:r>
              <a:rPr lang="ko-KR" altLang="en-US" sz="1200" dirty="0" err="1"/>
              <a:t>권역별</a:t>
            </a:r>
            <a:r>
              <a:rPr lang="ko-KR" altLang="en-US" sz="1200" dirty="0"/>
              <a:t> 발전량 </a:t>
            </a:r>
            <a:r>
              <a:rPr lang="ko-KR" altLang="en-US" sz="1200" dirty="0" err="1"/>
              <a:t>기술별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총용량</a:t>
            </a:r>
            <a:r>
              <a:rPr lang="ko-KR" altLang="en-US" sz="1200" dirty="0"/>
              <a:t> 비교</a:t>
            </a:r>
            <a:r>
              <a:rPr lang="en-US" altLang="ko-KR" sz="1200" dirty="0"/>
              <a:t>(</a:t>
            </a:r>
            <a:r>
              <a:rPr lang="ko-KR" altLang="en-US" sz="1200" dirty="0"/>
              <a:t>단위</a:t>
            </a:r>
            <a:r>
              <a:rPr lang="en-US" altLang="ko-KR" sz="1200" dirty="0"/>
              <a:t>: </a:t>
            </a:r>
            <a:r>
              <a:rPr lang="en-US" altLang="ko-KR" sz="1200" dirty="0" err="1"/>
              <a:t>Twh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1587644" y="1952751"/>
            <a:ext cx="126351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주력발전원 </a:t>
            </a:r>
            <a:r>
              <a:rPr lang="en-US" altLang="ko-KR" sz="1200" dirty="0"/>
              <a:t>GIS</a:t>
            </a:r>
            <a:endParaRPr lang="ko-KR" altLang="en-US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A4F690D-B018-41CC-82B5-DC3D9CED9D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42" y="2854885"/>
            <a:ext cx="4203549" cy="2732307"/>
          </a:xfrm>
          <a:prstGeom prst="rect">
            <a:avLst/>
          </a:prstGeom>
        </p:spPr>
      </p:pic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6BB7343-C56A-4A38-A88C-A41AB78A11AB}"/>
              </a:ext>
            </a:extLst>
          </p:cNvPr>
          <p:cNvSpPr/>
          <p:nvPr/>
        </p:nvSpPr>
        <p:spPr>
          <a:xfrm>
            <a:off x="5728446" y="109994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</p:spTree>
    <p:extLst>
      <p:ext uri="{BB962C8B-B14F-4D97-AF65-F5344CB8AC3E}">
        <p14:creationId xmlns:p14="http://schemas.microsoft.com/office/powerpoint/2010/main" val="2454620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656006"/>
            <a:ext cx="8407101" cy="39534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624368" y="1934004"/>
            <a:ext cx="89529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발전량</a:t>
            </a:r>
            <a:endParaRPr lang="ko-KR" alt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3121357" y="1671220"/>
            <a:ext cx="3519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2. </a:t>
            </a:r>
            <a:r>
              <a:rPr lang="ko-KR" altLang="en-US" dirty="0"/>
              <a:t>발전량</a:t>
            </a:r>
            <a:endParaRPr lang="en-US" altLang="ko-KR" dirty="0"/>
          </a:p>
          <a:p>
            <a:pPr algn="ctr"/>
            <a:r>
              <a:rPr lang="ko-KR" altLang="en-US" sz="1200" dirty="0" err="1"/>
              <a:t>권역별</a:t>
            </a:r>
            <a:r>
              <a:rPr lang="ko-KR" altLang="en-US" sz="1200" dirty="0"/>
              <a:t> 발전량 </a:t>
            </a:r>
            <a:r>
              <a:rPr lang="ko-KR" altLang="en-US" sz="1200" dirty="0" err="1"/>
              <a:t>기술별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총용량</a:t>
            </a:r>
            <a:r>
              <a:rPr lang="ko-KR" altLang="en-US" sz="1200" dirty="0"/>
              <a:t> 비교</a:t>
            </a:r>
            <a:r>
              <a:rPr lang="en-US" altLang="ko-KR" sz="1200" dirty="0"/>
              <a:t>(</a:t>
            </a:r>
            <a:r>
              <a:rPr lang="ko-KR" altLang="en-US" sz="1200" dirty="0"/>
              <a:t>단위</a:t>
            </a:r>
            <a:r>
              <a:rPr lang="en-US" altLang="ko-KR" sz="1200" dirty="0"/>
              <a:t>: </a:t>
            </a:r>
            <a:r>
              <a:rPr lang="en-US" altLang="ko-KR" sz="1200" dirty="0" err="1"/>
              <a:t>Twh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1587644" y="1952751"/>
            <a:ext cx="1263512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주력발전원 </a:t>
            </a:r>
            <a:r>
              <a:rPr lang="en-US" altLang="ko-KR" sz="1200" dirty="0"/>
              <a:t>GIS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69D40B0-70E3-4414-8CCE-C034060B98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730" y="2583854"/>
            <a:ext cx="4563101" cy="2696378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07FFBFD-D0CE-421C-85E2-A6A68ADB1035}"/>
              </a:ext>
            </a:extLst>
          </p:cNvPr>
          <p:cNvSpPr/>
          <p:nvPr/>
        </p:nvSpPr>
        <p:spPr>
          <a:xfrm>
            <a:off x="5728446" y="109994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</p:spTree>
    <p:extLst>
      <p:ext uri="{BB962C8B-B14F-4D97-AF65-F5344CB8AC3E}">
        <p14:creationId xmlns:p14="http://schemas.microsoft.com/office/powerpoint/2010/main" val="95606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656006"/>
            <a:ext cx="8407101" cy="39534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3D2F57F-1164-431F-ADA6-50C23E8BADBD}"/>
              </a:ext>
            </a:extLst>
          </p:cNvPr>
          <p:cNvSpPr/>
          <p:nvPr/>
        </p:nvSpPr>
        <p:spPr>
          <a:xfrm>
            <a:off x="68051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7325575-25A6-48AC-85FC-261864E51AAE}"/>
              </a:ext>
            </a:extLst>
          </p:cNvPr>
          <p:cNvSpPr/>
          <p:nvPr/>
        </p:nvSpPr>
        <p:spPr>
          <a:xfrm>
            <a:off x="121792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AC0EB98-02E2-4556-8E67-9CC134630292}"/>
              </a:ext>
            </a:extLst>
          </p:cNvPr>
          <p:cNvSpPr/>
          <p:nvPr/>
        </p:nvSpPr>
        <p:spPr>
          <a:xfrm>
            <a:off x="175533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2019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0967A8C-E97B-4ED7-B0B7-BBE030FB03F9}"/>
              </a:ext>
            </a:extLst>
          </p:cNvPr>
          <p:cNvSpPr/>
          <p:nvPr/>
        </p:nvSpPr>
        <p:spPr>
          <a:xfrm>
            <a:off x="229274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2020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68EB983-249C-4E99-8D9E-F2674337EC77}"/>
              </a:ext>
            </a:extLst>
          </p:cNvPr>
          <p:cNvSpPr/>
          <p:nvPr/>
        </p:nvSpPr>
        <p:spPr>
          <a:xfrm>
            <a:off x="283015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E14B11F-349F-40D1-BC4D-5D14FA17D653}"/>
              </a:ext>
            </a:extLst>
          </p:cNvPr>
          <p:cNvSpPr/>
          <p:nvPr/>
        </p:nvSpPr>
        <p:spPr>
          <a:xfrm>
            <a:off x="336756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ACFBA6A-3BA8-419B-9E81-C8F8581EE21C}"/>
              </a:ext>
            </a:extLst>
          </p:cNvPr>
          <p:cNvSpPr/>
          <p:nvPr/>
        </p:nvSpPr>
        <p:spPr>
          <a:xfrm>
            <a:off x="390497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D076E9-E3E0-4F8A-A1AD-645B3CDFE5E6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기준 연도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624368" y="1934004"/>
            <a:ext cx="895291" cy="2539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/>
            </a:lvl1pPr>
          </a:lstStyle>
          <a:p>
            <a:r>
              <a:rPr lang="ko-KR" altLang="en-US" sz="1050" dirty="0"/>
              <a:t>총 전력수요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3121357" y="1671220"/>
            <a:ext cx="3519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3. </a:t>
            </a:r>
            <a:r>
              <a:rPr lang="ko-KR" altLang="en-US" dirty="0"/>
              <a:t>전력수요</a:t>
            </a:r>
            <a:endParaRPr lang="en-US" altLang="ko-KR" dirty="0"/>
          </a:p>
          <a:p>
            <a:pPr algn="ctr"/>
            <a:r>
              <a:rPr lang="ko-KR" altLang="en-US" sz="1200" dirty="0" err="1"/>
              <a:t>권역별</a:t>
            </a:r>
            <a:r>
              <a:rPr lang="ko-KR" altLang="en-US" sz="1200" dirty="0"/>
              <a:t> 전력수요 </a:t>
            </a:r>
            <a:r>
              <a:rPr lang="ko-KR" altLang="en-US" sz="1200" dirty="0" err="1"/>
              <a:t>총용량</a:t>
            </a:r>
            <a:r>
              <a:rPr lang="ko-KR" altLang="en-US" sz="1200" dirty="0"/>
              <a:t> 비교</a:t>
            </a:r>
            <a:r>
              <a:rPr lang="en-US" altLang="ko-KR" sz="1200" dirty="0"/>
              <a:t>(</a:t>
            </a:r>
            <a:r>
              <a:rPr lang="ko-KR" altLang="en-US" sz="1200" dirty="0"/>
              <a:t>단위</a:t>
            </a:r>
            <a:r>
              <a:rPr lang="en-US" altLang="ko-KR" sz="1200" dirty="0"/>
              <a:t>: </a:t>
            </a:r>
            <a:r>
              <a:rPr lang="en-US" altLang="ko-KR" sz="1200" dirty="0" err="1"/>
              <a:t>Twh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1587644" y="1952751"/>
            <a:ext cx="126351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총전력수요 </a:t>
            </a:r>
            <a:r>
              <a:rPr lang="en-US" altLang="ko-KR" sz="1200" dirty="0"/>
              <a:t>GIS</a:t>
            </a:r>
            <a:endParaRPr lang="ko-KR" altLang="en-US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B65D180-62D1-4F0F-AB19-E5B9CA4D4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1156" y="2848769"/>
            <a:ext cx="4109239" cy="2671005"/>
          </a:xfrm>
          <a:prstGeom prst="rect">
            <a:avLst/>
          </a:prstGeo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872902E-B9D0-4862-A32A-AB30C0FDAD4A}"/>
              </a:ext>
            </a:extLst>
          </p:cNvPr>
          <p:cNvSpPr/>
          <p:nvPr/>
        </p:nvSpPr>
        <p:spPr>
          <a:xfrm>
            <a:off x="5728446" y="109994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</p:spTree>
    <p:extLst>
      <p:ext uri="{BB962C8B-B14F-4D97-AF65-F5344CB8AC3E}">
        <p14:creationId xmlns:p14="http://schemas.microsoft.com/office/powerpoint/2010/main" val="422585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1067024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656006"/>
            <a:ext cx="8407101" cy="39534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624368" y="1934004"/>
            <a:ext cx="895291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총 전력수요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3121357" y="1671220"/>
            <a:ext cx="35198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3. </a:t>
            </a:r>
            <a:r>
              <a:rPr lang="ko-KR" altLang="en-US" dirty="0"/>
              <a:t>전력수요</a:t>
            </a:r>
            <a:endParaRPr lang="en-US" altLang="ko-KR" dirty="0"/>
          </a:p>
          <a:p>
            <a:pPr algn="ctr"/>
            <a:r>
              <a:rPr lang="ko-KR" altLang="en-US" sz="1200" dirty="0" err="1"/>
              <a:t>권역별</a:t>
            </a:r>
            <a:r>
              <a:rPr lang="ko-KR" altLang="en-US" sz="1200" dirty="0"/>
              <a:t> 전력수요 </a:t>
            </a:r>
            <a:r>
              <a:rPr lang="ko-KR" altLang="en-US" sz="1200" dirty="0" err="1"/>
              <a:t>총용량</a:t>
            </a:r>
            <a:r>
              <a:rPr lang="ko-KR" altLang="en-US" sz="1200" dirty="0"/>
              <a:t> 비교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1587644" y="1952751"/>
            <a:ext cx="1263512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/>
            </a:lvl1pPr>
          </a:lstStyle>
          <a:p>
            <a:r>
              <a:rPr lang="ko-KR" altLang="en-US" dirty="0"/>
              <a:t>총전력수요 </a:t>
            </a:r>
            <a:r>
              <a:rPr lang="en-US" altLang="ko-KR" dirty="0"/>
              <a:t>GIS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D7618AD3-46DD-4986-A087-0D66898A9657}"/>
              </a:ext>
            </a:extLst>
          </p:cNvPr>
          <p:cNvSpPr/>
          <p:nvPr/>
        </p:nvSpPr>
        <p:spPr>
          <a:xfrm>
            <a:off x="5728446" y="109994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  <p:pic>
        <p:nvPicPr>
          <p:cNvPr id="15" name="Picture 1">
            <a:extLst>
              <a:ext uri="{FF2B5EF4-FFF2-40B4-BE49-F238E27FC236}">
                <a16:creationId xmlns:a16="http://schemas.microsoft.com/office/drawing/2014/main" id="{4FCBC091-C534-4FFD-99DF-3E3E10D0F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221" y="2431145"/>
            <a:ext cx="5198618" cy="307276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688611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4F196BA1-1220-4BDA-BE73-E05EF9B15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26" y="2453147"/>
            <a:ext cx="4709160" cy="3060954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20296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20296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20296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D9F909B-31DC-4E4C-BDB9-830D8BFCAEAF}"/>
              </a:ext>
            </a:extLst>
          </p:cNvPr>
          <p:cNvSpPr/>
          <p:nvPr/>
        </p:nvSpPr>
        <p:spPr>
          <a:xfrm>
            <a:off x="5728446" y="20296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20296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746760"/>
            <a:ext cx="8407101" cy="486268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3D2F57F-1164-431F-ADA6-50C23E8BADBD}"/>
              </a:ext>
            </a:extLst>
          </p:cNvPr>
          <p:cNvSpPr/>
          <p:nvPr/>
        </p:nvSpPr>
        <p:spPr>
          <a:xfrm>
            <a:off x="680516" y="2583854"/>
            <a:ext cx="743472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Solar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7325575-25A6-48AC-85FC-261864E51AAE}"/>
              </a:ext>
            </a:extLst>
          </p:cNvPr>
          <p:cNvSpPr/>
          <p:nvPr/>
        </p:nvSpPr>
        <p:spPr>
          <a:xfrm>
            <a:off x="1498570" y="2583854"/>
            <a:ext cx="743472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Wind-on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AC0EB98-02E2-4556-8E67-9CC134630292}"/>
              </a:ext>
            </a:extLst>
          </p:cNvPr>
          <p:cNvSpPr/>
          <p:nvPr/>
        </p:nvSpPr>
        <p:spPr>
          <a:xfrm>
            <a:off x="2316624" y="2583854"/>
            <a:ext cx="743472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Wind-off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D076E9-E3E0-4F8A-A1AD-645B3CDFE5E6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 err="1"/>
              <a:t>기술별</a:t>
            </a:r>
            <a:endParaRPr lang="ko-KR" altLang="en-US" sz="10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624368" y="1934004"/>
            <a:ext cx="895291" cy="2539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 err="1"/>
              <a:t>평균이용률</a:t>
            </a:r>
            <a:endParaRPr lang="ko-KR" altLang="en-US" sz="10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2753374" y="1066900"/>
            <a:ext cx="36372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4. </a:t>
            </a:r>
            <a:r>
              <a:rPr lang="ko-KR" altLang="en-US" dirty="0"/>
              <a:t>연평균 재생에너지 이용률</a:t>
            </a:r>
            <a:endParaRPr lang="en-US" altLang="ko-KR" dirty="0"/>
          </a:p>
          <a:p>
            <a:pPr algn="ctr"/>
            <a:r>
              <a:rPr lang="ko-KR" altLang="en-US" sz="1200" dirty="0"/>
              <a:t>전세계 국가별 친환경에너지 </a:t>
            </a:r>
            <a:r>
              <a:rPr lang="ko-KR" altLang="en-US" sz="1200" dirty="0" err="1"/>
              <a:t>평균이용률</a:t>
            </a:r>
            <a:r>
              <a:rPr lang="ko-KR" altLang="en-US" sz="1200" dirty="0"/>
              <a:t> 수준 비교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6FD6E8-1E5C-48DE-B2FE-B6D0281C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0663" y="146516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CA50D7-4C13-442F-A76A-E3F94EFEE430}"/>
              </a:ext>
            </a:extLst>
          </p:cNvPr>
          <p:cNvSpPr txBox="1"/>
          <p:nvPr/>
        </p:nvSpPr>
        <p:spPr>
          <a:xfrm>
            <a:off x="1947104" y="1944273"/>
            <a:ext cx="1112992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 err="1"/>
              <a:t>평균이용률</a:t>
            </a:r>
            <a:r>
              <a:rPr lang="ko-KR" altLang="en-US" sz="1050" dirty="0"/>
              <a:t> </a:t>
            </a:r>
            <a:r>
              <a:rPr lang="en-US" altLang="ko-KR" sz="1050" dirty="0"/>
              <a:t>GIS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2352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185568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185568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185568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185568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617220"/>
            <a:ext cx="8407101" cy="49922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1947104" y="1944273"/>
            <a:ext cx="1112992" cy="2539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 err="1"/>
              <a:t>평균이용률</a:t>
            </a:r>
            <a:r>
              <a:rPr lang="ko-KR" altLang="en-US" sz="1050" dirty="0"/>
              <a:t> </a:t>
            </a:r>
            <a:r>
              <a:rPr lang="en-US" altLang="ko-KR" sz="1050" dirty="0"/>
              <a:t>GIS</a:t>
            </a:r>
            <a:endParaRPr lang="ko-KR" altLang="en-US" sz="10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2886332" y="1003748"/>
            <a:ext cx="36833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4. </a:t>
            </a:r>
            <a:r>
              <a:rPr lang="ko-KR" altLang="en-US" dirty="0"/>
              <a:t>연평균 재생에너지 이용률</a:t>
            </a:r>
            <a:endParaRPr lang="en-US" altLang="ko-KR" dirty="0"/>
          </a:p>
          <a:p>
            <a:pPr algn="ctr"/>
            <a:r>
              <a:rPr lang="ko-KR" altLang="en-US" sz="1200" dirty="0"/>
              <a:t>전세계 국가별 친환경에너지 </a:t>
            </a:r>
            <a:r>
              <a:rPr lang="ko-KR" altLang="en-US" sz="1200" dirty="0" err="1"/>
              <a:t>평균이용률</a:t>
            </a:r>
            <a:r>
              <a:rPr lang="ko-KR" altLang="en-US" sz="1200" dirty="0"/>
              <a:t> 수준 비교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680516" y="1938931"/>
            <a:ext cx="126351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/>
              <a:t>평균이용률</a:t>
            </a:r>
            <a:endParaRPr lang="ko-KR" altLang="en-US" sz="12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B0B1E34-83EB-4C19-9896-8B9FD4101879}"/>
              </a:ext>
            </a:extLst>
          </p:cNvPr>
          <p:cNvSpPr/>
          <p:nvPr/>
        </p:nvSpPr>
        <p:spPr>
          <a:xfrm>
            <a:off x="680516" y="2583854"/>
            <a:ext cx="743472" cy="15248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Solar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8555353-4939-4275-B282-C4F8F91E17CE}"/>
              </a:ext>
            </a:extLst>
          </p:cNvPr>
          <p:cNvSpPr/>
          <p:nvPr/>
        </p:nvSpPr>
        <p:spPr>
          <a:xfrm>
            <a:off x="1498570" y="2583854"/>
            <a:ext cx="743472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Wind-on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6389356-A1DB-422F-B4EB-19BEA13F4E20}"/>
              </a:ext>
            </a:extLst>
          </p:cNvPr>
          <p:cNvSpPr/>
          <p:nvPr/>
        </p:nvSpPr>
        <p:spPr>
          <a:xfrm>
            <a:off x="2316624" y="2583854"/>
            <a:ext cx="743472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Wind-off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94379D-6015-4622-A471-2DAE879FBFDC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 err="1"/>
              <a:t>기술별</a:t>
            </a:r>
            <a:endParaRPr lang="ko-KR" altLang="en-US" sz="105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5E1AB0C-FBD3-4821-AF21-00D6978B66BC}"/>
              </a:ext>
            </a:extLst>
          </p:cNvPr>
          <p:cNvSpPr/>
          <p:nvPr/>
        </p:nvSpPr>
        <p:spPr>
          <a:xfrm>
            <a:off x="5728446" y="202962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6397B69-809B-443A-9F7F-37DF19EE5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4971" y="2778333"/>
            <a:ext cx="4720046" cy="278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17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067024"/>
            <a:ext cx="8407101" cy="4542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2100109" y="1944273"/>
            <a:ext cx="1112992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탄소배출량 </a:t>
            </a:r>
            <a:r>
              <a:rPr lang="en-US" altLang="ko-KR" sz="1050" dirty="0"/>
              <a:t>GIS</a:t>
            </a:r>
            <a:endParaRPr lang="ko-KR" altLang="en-US" sz="10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2886332" y="1182563"/>
            <a:ext cx="393165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5. </a:t>
            </a:r>
            <a:r>
              <a:rPr lang="ko-KR" altLang="en-US" dirty="0"/>
              <a:t>이산화탄소 배출량</a:t>
            </a:r>
            <a:endParaRPr lang="en-US" altLang="ko-KR" dirty="0"/>
          </a:p>
          <a:p>
            <a:pPr algn="ctr"/>
            <a:r>
              <a:rPr lang="en-US" altLang="ko-KR" sz="1200" dirty="0"/>
              <a:t>2023</a:t>
            </a:r>
            <a:r>
              <a:rPr lang="ko-KR" altLang="en-US" sz="1200" dirty="0"/>
              <a:t>년 전세계 총 탄소배출 규모</a:t>
            </a:r>
            <a:r>
              <a:rPr lang="en-US" altLang="ko-KR" sz="1200" dirty="0"/>
              <a:t>(Mt)</a:t>
            </a:r>
            <a:r>
              <a:rPr lang="ko-KR" altLang="en-US" sz="1200" dirty="0"/>
              <a:t> 및 연료원별 기여도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680516" y="1938931"/>
            <a:ext cx="1263512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탄소배출량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6F193DD-5E49-4309-8461-E4677DAB0C4C}"/>
              </a:ext>
            </a:extLst>
          </p:cNvPr>
          <p:cNvSpPr/>
          <p:nvPr/>
        </p:nvSpPr>
        <p:spPr>
          <a:xfrm>
            <a:off x="68051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A33B90A-B476-4628-8225-3E0102BA80F7}"/>
              </a:ext>
            </a:extLst>
          </p:cNvPr>
          <p:cNvSpPr/>
          <p:nvPr/>
        </p:nvSpPr>
        <p:spPr>
          <a:xfrm>
            <a:off x="121792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D5F2512-5A50-4358-9A5D-CCB6998AC996}"/>
              </a:ext>
            </a:extLst>
          </p:cNvPr>
          <p:cNvSpPr/>
          <p:nvPr/>
        </p:nvSpPr>
        <p:spPr>
          <a:xfrm>
            <a:off x="175533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2019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D55B95F7-B271-4498-B717-A6EC704F2E04}"/>
              </a:ext>
            </a:extLst>
          </p:cNvPr>
          <p:cNvSpPr/>
          <p:nvPr/>
        </p:nvSpPr>
        <p:spPr>
          <a:xfrm>
            <a:off x="229274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2020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637B932-0B5A-423E-A618-418A59609527}"/>
              </a:ext>
            </a:extLst>
          </p:cNvPr>
          <p:cNvSpPr/>
          <p:nvPr/>
        </p:nvSpPr>
        <p:spPr>
          <a:xfrm>
            <a:off x="283015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C1735A1-FB56-4FCD-B448-75FFEBA3D77D}"/>
              </a:ext>
            </a:extLst>
          </p:cNvPr>
          <p:cNvSpPr/>
          <p:nvPr/>
        </p:nvSpPr>
        <p:spPr>
          <a:xfrm>
            <a:off x="336756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F2F56303-A59D-489B-9F79-47417E983A8C}"/>
              </a:ext>
            </a:extLst>
          </p:cNvPr>
          <p:cNvSpPr/>
          <p:nvPr/>
        </p:nvSpPr>
        <p:spPr>
          <a:xfrm>
            <a:off x="390497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65E1B6-B51A-4FEA-82B7-D841D6A39DB8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기준 연도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923473-5773-4BE8-88E2-91203489BF82}"/>
              </a:ext>
            </a:extLst>
          </p:cNvPr>
          <p:cNvSpPr txBox="1"/>
          <p:nvPr/>
        </p:nvSpPr>
        <p:spPr>
          <a:xfrm>
            <a:off x="3367566" y="1944273"/>
            <a:ext cx="1263512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/>
              <a:t>배출규모 점유율</a:t>
            </a:r>
            <a:endParaRPr lang="ko-KR" altLang="en-US" sz="105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177024-840D-4E5F-9F27-63230AA7D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5075" y="2825443"/>
            <a:ext cx="4133850" cy="2630632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8D36E92-3E59-4737-BEC6-426266CBC835}"/>
              </a:ext>
            </a:extLst>
          </p:cNvPr>
          <p:cNvSpPr/>
          <p:nvPr/>
        </p:nvSpPr>
        <p:spPr>
          <a:xfrm>
            <a:off x="5807340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Coal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B75DC31-7B95-4DC6-B984-0E15B4980A88}"/>
              </a:ext>
            </a:extLst>
          </p:cNvPr>
          <p:cNvSpPr/>
          <p:nvPr/>
        </p:nvSpPr>
        <p:spPr>
          <a:xfrm>
            <a:off x="6344750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LNG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B29BC3F-8107-49AC-8685-3BD8B1A5D8D2}"/>
              </a:ext>
            </a:extLst>
          </p:cNvPr>
          <p:cNvSpPr/>
          <p:nvPr/>
        </p:nvSpPr>
        <p:spPr>
          <a:xfrm>
            <a:off x="6882160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Oil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071B9141-E0DE-4746-B0DA-8A62EFD11B52}"/>
              </a:ext>
            </a:extLst>
          </p:cNvPr>
          <p:cNvSpPr/>
          <p:nvPr/>
        </p:nvSpPr>
        <p:spPr>
          <a:xfrm>
            <a:off x="7419570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Bio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3557EC-9060-42AC-8CF4-2B20ED51E0DD}"/>
              </a:ext>
            </a:extLst>
          </p:cNvPr>
          <p:cNvSpPr txBox="1"/>
          <p:nvPr/>
        </p:nvSpPr>
        <p:spPr>
          <a:xfrm>
            <a:off x="5751192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기술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F479BA7-DD4A-48BF-9587-B98A7128CEB0}"/>
              </a:ext>
            </a:extLst>
          </p:cNvPr>
          <p:cNvSpPr/>
          <p:nvPr/>
        </p:nvSpPr>
        <p:spPr>
          <a:xfrm>
            <a:off x="5728446" y="472593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</p:spTree>
    <p:extLst>
      <p:ext uri="{BB962C8B-B14F-4D97-AF65-F5344CB8AC3E}">
        <p14:creationId xmlns:p14="http://schemas.microsoft.com/office/powerpoint/2010/main" val="4156242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067024"/>
            <a:ext cx="8407101" cy="4542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2100109" y="1944273"/>
            <a:ext cx="1112992" cy="2539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탄소배출량 </a:t>
            </a:r>
            <a:r>
              <a:rPr lang="en-US" altLang="ko-KR" sz="1050" dirty="0"/>
              <a:t>GIS</a:t>
            </a:r>
            <a:endParaRPr lang="ko-KR" altLang="en-US" sz="10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2886332" y="1182563"/>
            <a:ext cx="36833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5. </a:t>
            </a:r>
            <a:r>
              <a:rPr lang="ko-KR" altLang="en-US" dirty="0"/>
              <a:t>이산화탄소 배출량</a:t>
            </a:r>
            <a:endParaRPr lang="en-US" altLang="ko-KR" dirty="0"/>
          </a:p>
          <a:p>
            <a:pPr algn="ctr"/>
            <a:r>
              <a:rPr lang="ko-KR" altLang="en-US" sz="1200" dirty="0"/>
              <a:t>전세계 총 탄소배출 수준 단계구분도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680516" y="1938931"/>
            <a:ext cx="126351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탄소배출량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B8F37E5-DFFF-46DB-86CB-604E11C85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351" y="2379603"/>
            <a:ext cx="4975860" cy="2940281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12D4ED8-5F1D-4680-A487-60FFCA876E2E}"/>
              </a:ext>
            </a:extLst>
          </p:cNvPr>
          <p:cNvSpPr/>
          <p:nvPr/>
        </p:nvSpPr>
        <p:spPr>
          <a:xfrm>
            <a:off x="5728446" y="47937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0542D9-BE87-4450-8FB5-E70C8AD3578B}"/>
              </a:ext>
            </a:extLst>
          </p:cNvPr>
          <p:cNvSpPr txBox="1"/>
          <p:nvPr/>
        </p:nvSpPr>
        <p:spPr>
          <a:xfrm>
            <a:off x="3367566" y="1944273"/>
            <a:ext cx="1263512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/>
              <a:t>배출규모 점유율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295759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C623425-8ABB-4197-955C-907C210676D2}"/>
              </a:ext>
            </a:extLst>
          </p:cNvPr>
          <p:cNvSpPr/>
          <p:nvPr/>
        </p:nvSpPr>
        <p:spPr>
          <a:xfrm>
            <a:off x="1153757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1. </a:t>
            </a:r>
            <a:r>
              <a:rPr lang="ko-KR" altLang="en-US" sz="1350" dirty="0"/>
              <a:t>발전설비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D2C395D-4BCD-4C21-AD7C-2F91A0AD46DB}"/>
              </a:ext>
            </a:extLst>
          </p:cNvPr>
          <p:cNvSpPr/>
          <p:nvPr/>
        </p:nvSpPr>
        <p:spPr>
          <a:xfrm>
            <a:off x="2678653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2.</a:t>
            </a:r>
            <a:r>
              <a:rPr lang="ko-KR" altLang="en-US" sz="1350" dirty="0"/>
              <a:t>발전량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0B6196-2A73-45B7-8FB8-DDF21B496B4A}"/>
              </a:ext>
            </a:extLst>
          </p:cNvPr>
          <p:cNvSpPr/>
          <p:nvPr/>
        </p:nvSpPr>
        <p:spPr>
          <a:xfrm>
            <a:off x="4203549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/>
              <a:t>3. </a:t>
            </a:r>
            <a:r>
              <a:rPr lang="ko-KR" altLang="en-US" sz="1350" dirty="0"/>
              <a:t>전력수요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B33C20-02D8-4457-BA5C-98C8398A8B86}"/>
              </a:ext>
            </a:extLst>
          </p:cNvPr>
          <p:cNvSpPr/>
          <p:nvPr/>
        </p:nvSpPr>
        <p:spPr>
          <a:xfrm>
            <a:off x="7253342" y="47333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5. </a:t>
            </a:r>
            <a:r>
              <a:rPr lang="ko-KR" altLang="en-US" sz="900" dirty="0"/>
              <a:t>이산화탄소 배출량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BCDE08-9FA1-4D06-B558-7DEAB345DB23}"/>
              </a:ext>
            </a:extLst>
          </p:cNvPr>
          <p:cNvSpPr/>
          <p:nvPr/>
        </p:nvSpPr>
        <p:spPr>
          <a:xfrm>
            <a:off x="524435" y="1067024"/>
            <a:ext cx="8407101" cy="4542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96DC647-5080-46A4-9AEB-BAF2358B173F}"/>
              </a:ext>
            </a:extLst>
          </p:cNvPr>
          <p:cNvCxnSpPr/>
          <p:nvPr/>
        </p:nvCxnSpPr>
        <p:spPr>
          <a:xfrm>
            <a:off x="524435" y="2309532"/>
            <a:ext cx="84071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FC6091-22F6-476F-8B86-6363FD8689E3}"/>
              </a:ext>
            </a:extLst>
          </p:cNvPr>
          <p:cNvSpPr txBox="1"/>
          <p:nvPr/>
        </p:nvSpPr>
        <p:spPr>
          <a:xfrm>
            <a:off x="2100109" y="1944273"/>
            <a:ext cx="1112992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탄소배출량 </a:t>
            </a:r>
            <a:r>
              <a:rPr lang="en-US" altLang="ko-KR" sz="1050" dirty="0"/>
              <a:t>GIS</a:t>
            </a:r>
            <a:endParaRPr lang="ko-KR" altLang="en-US" sz="10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0F9C53-CCE6-44A8-A73A-D566A53C130A}"/>
              </a:ext>
            </a:extLst>
          </p:cNvPr>
          <p:cNvSpPr txBox="1"/>
          <p:nvPr/>
        </p:nvSpPr>
        <p:spPr>
          <a:xfrm>
            <a:off x="2886332" y="1182563"/>
            <a:ext cx="36833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5. </a:t>
            </a:r>
            <a:r>
              <a:rPr lang="ko-KR" altLang="en-US" dirty="0"/>
              <a:t>이산화탄소 배출량</a:t>
            </a:r>
            <a:endParaRPr lang="en-US" altLang="ko-KR" dirty="0"/>
          </a:p>
          <a:p>
            <a:pPr algn="ctr"/>
            <a:r>
              <a:rPr lang="en-US" altLang="ko-KR" sz="1200" dirty="0"/>
              <a:t>2023</a:t>
            </a:r>
            <a:r>
              <a:rPr lang="ko-KR" altLang="en-US" sz="1200" dirty="0"/>
              <a:t>년 전세계 총 탄소배출 규모</a:t>
            </a:r>
            <a:r>
              <a:rPr lang="en-US" altLang="ko-KR" sz="1200" dirty="0"/>
              <a:t>(Mt)</a:t>
            </a:r>
            <a:r>
              <a:rPr lang="ko-KR" altLang="en-US" sz="1200" dirty="0"/>
              <a:t> 및 비율</a:t>
            </a:r>
            <a:r>
              <a:rPr lang="en-US" altLang="ko-KR" sz="1200" dirty="0"/>
              <a:t>(%)</a:t>
            </a:r>
            <a:endParaRPr lang="ko-KR" alt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27FAD5-EEE1-40CF-8F25-AB3841AB3831}"/>
              </a:ext>
            </a:extLst>
          </p:cNvPr>
          <p:cNvSpPr txBox="1"/>
          <p:nvPr/>
        </p:nvSpPr>
        <p:spPr>
          <a:xfrm>
            <a:off x="680516" y="1938931"/>
            <a:ext cx="126351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탄소배출량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6F193DD-5E49-4309-8461-E4677DAB0C4C}"/>
              </a:ext>
            </a:extLst>
          </p:cNvPr>
          <p:cNvSpPr/>
          <p:nvPr/>
        </p:nvSpPr>
        <p:spPr>
          <a:xfrm>
            <a:off x="68051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A33B90A-B476-4628-8225-3E0102BA80F7}"/>
              </a:ext>
            </a:extLst>
          </p:cNvPr>
          <p:cNvSpPr/>
          <p:nvPr/>
        </p:nvSpPr>
        <p:spPr>
          <a:xfrm>
            <a:off x="121792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D5F2512-5A50-4358-9A5D-CCB6998AC996}"/>
              </a:ext>
            </a:extLst>
          </p:cNvPr>
          <p:cNvSpPr/>
          <p:nvPr/>
        </p:nvSpPr>
        <p:spPr>
          <a:xfrm>
            <a:off x="175533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2019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D55B95F7-B271-4498-B717-A6EC704F2E04}"/>
              </a:ext>
            </a:extLst>
          </p:cNvPr>
          <p:cNvSpPr/>
          <p:nvPr/>
        </p:nvSpPr>
        <p:spPr>
          <a:xfrm>
            <a:off x="229274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2020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637B932-0B5A-423E-A618-418A59609527}"/>
              </a:ext>
            </a:extLst>
          </p:cNvPr>
          <p:cNvSpPr/>
          <p:nvPr/>
        </p:nvSpPr>
        <p:spPr>
          <a:xfrm>
            <a:off x="283015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C1735A1-FB56-4FCD-B448-75FFEBA3D77D}"/>
              </a:ext>
            </a:extLst>
          </p:cNvPr>
          <p:cNvSpPr/>
          <p:nvPr/>
        </p:nvSpPr>
        <p:spPr>
          <a:xfrm>
            <a:off x="336756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F2F56303-A59D-489B-9F79-47417E983A8C}"/>
              </a:ext>
            </a:extLst>
          </p:cNvPr>
          <p:cNvSpPr/>
          <p:nvPr/>
        </p:nvSpPr>
        <p:spPr>
          <a:xfrm>
            <a:off x="3904976" y="2583854"/>
            <a:ext cx="473241" cy="15248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2023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65E1B6-B51A-4FEA-82B7-D841D6A39DB8}"/>
              </a:ext>
            </a:extLst>
          </p:cNvPr>
          <p:cNvSpPr txBox="1"/>
          <p:nvPr/>
        </p:nvSpPr>
        <p:spPr>
          <a:xfrm>
            <a:off x="624368" y="2326648"/>
            <a:ext cx="8952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/>
              <a:t>기준 연도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12122FB-B0DC-4E8F-AF8A-B5B563A9F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575" y="2781841"/>
            <a:ext cx="3703794" cy="2777846"/>
          </a:xfrm>
          <a:prstGeom prst="rect">
            <a:avLst/>
          </a:prstGeom>
        </p:spPr>
      </p:pic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961E67BE-5F5C-41C4-AE11-052887FDB763}"/>
              </a:ext>
            </a:extLst>
          </p:cNvPr>
          <p:cNvSpPr/>
          <p:nvPr/>
        </p:nvSpPr>
        <p:spPr>
          <a:xfrm>
            <a:off x="5728446" y="479376"/>
            <a:ext cx="1355464" cy="3146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4.</a:t>
            </a:r>
            <a:r>
              <a:rPr lang="ko-KR" altLang="en-US" sz="1050" dirty="0"/>
              <a:t> 연평균 재생에너지 이용률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ACB937-7A1B-46CE-8336-DAB134233968}"/>
              </a:ext>
            </a:extLst>
          </p:cNvPr>
          <p:cNvSpPr txBox="1"/>
          <p:nvPr/>
        </p:nvSpPr>
        <p:spPr>
          <a:xfrm>
            <a:off x="3367566" y="1944273"/>
            <a:ext cx="1263512" cy="2539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/>
              <a:t>배출규모 점유율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727101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</TotalTime>
  <Words>402</Words>
  <Application>Microsoft Office PowerPoint</Application>
  <PresentationFormat>화면 슬라이드 쇼(4:3)</PresentationFormat>
  <Paragraphs>154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KEI</dc:creator>
  <cp:lastModifiedBy>KEI</cp:lastModifiedBy>
  <cp:revision>22</cp:revision>
  <dcterms:created xsi:type="dcterms:W3CDTF">2026-07-10T08:01:17Z</dcterms:created>
  <dcterms:modified xsi:type="dcterms:W3CDTF">2026-07-13T08:25:51Z</dcterms:modified>
</cp:coreProperties>
</file>